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2" r:id="rId4"/>
  </p:sldMasterIdLst>
  <p:notesMasterIdLst>
    <p:notesMasterId r:id="rId27"/>
  </p:notesMasterIdLst>
  <p:sldIdLst>
    <p:sldId id="411" r:id="rId5"/>
    <p:sldId id="389" r:id="rId6"/>
    <p:sldId id="407" r:id="rId7"/>
    <p:sldId id="391" r:id="rId8"/>
    <p:sldId id="417" r:id="rId9"/>
    <p:sldId id="399" r:id="rId10"/>
    <p:sldId id="397" r:id="rId11"/>
    <p:sldId id="396" r:id="rId12"/>
    <p:sldId id="421" r:id="rId13"/>
    <p:sldId id="415" r:id="rId14"/>
    <p:sldId id="413" r:id="rId15"/>
    <p:sldId id="422" r:id="rId16"/>
    <p:sldId id="401" r:id="rId17"/>
    <p:sldId id="416" r:id="rId18"/>
    <p:sldId id="414" r:id="rId19"/>
    <p:sldId id="423" r:id="rId20"/>
    <p:sldId id="402" r:id="rId21"/>
    <p:sldId id="404" r:id="rId22"/>
    <p:sldId id="418" r:id="rId23"/>
    <p:sldId id="419" r:id="rId24"/>
    <p:sldId id="420" r:id="rId25"/>
    <p:sldId id="409" r:id="rId26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D9B8ED-DD5A-3B94-6F04-FD7CF7A6F845}" name="MONSALVE SANCHEZ SANTIAGO" initials="SM" userId="S::s.monsalvesanchez@uandresbello.edu::65dd0746-d90e-4a4f-bedc-3f2bb610e2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Valenzuela Concha" initials="MVC" lastIdx="1" clrIdx="0">
    <p:extLst>
      <p:ext uri="{19B8F6BF-5375-455C-9EA6-DF929625EA0E}">
        <p15:presenceInfo xmlns:p15="http://schemas.microsoft.com/office/powerpoint/2012/main" userId="S-1-5-21-993326457-1990213774-629508014-60950" providerId="AD"/>
      </p:ext>
    </p:extLst>
  </p:cmAuthor>
  <p:cmAuthor id="2" name="Manuel Valenzuela Concha" initials="MVC [2]" lastIdx="1" clrIdx="1">
    <p:extLst>
      <p:ext uri="{19B8F6BF-5375-455C-9EA6-DF929625EA0E}">
        <p15:presenceInfo xmlns:p15="http://schemas.microsoft.com/office/powerpoint/2012/main" userId="S::manuel.valenzuela@unab.cl::63540914-dbe4-4c70-a8f0-0e52a38a1d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FAB"/>
    <a:srgbClr val="8FAADC"/>
    <a:srgbClr val="305699"/>
    <a:srgbClr val="E90000"/>
    <a:srgbClr val="E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BFDCC-93F9-4C3D-E24C-584054AEE10F}" v="7" dt="2026-06-18T05:49:13.724"/>
    <p1510:client id="{13F2E5BC-4A63-B382-3914-B3FF48B01C77}" v="673" dt="2026-06-17T06:36:53.780"/>
    <p1510:client id="{1DFCF477-F172-DB0E-03FA-573D09A53C16}" v="191" dt="2026-06-18T06:35:41.139"/>
    <p1510:client id="{6552C660-A770-1B26-E58C-504C1473B953}" v="135" dt="2026-06-18T06:54:35.824"/>
    <p1510:client id="{AD957795-C18E-75F2-0199-4B079F082479}" v="134" dt="2026-06-17T17:01:19.689"/>
    <p1510:client id="{E14C8549-F4B9-4E3D-BC9B-5374859C52C4}" v="706" dt="2026-06-18T04:51:50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4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18/06/2026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66085-2201-16A3-2049-E90F0D6C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E8D481-0CE4-0D53-17C4-A50B96FE0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2FA7CC-E1A2-647C-6450-F998A60DE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AEE903-B79A-A205-1048-6FE994A0C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59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7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2A033-6FB0-3F0F-4883-03E14FC3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90E1E9-D7ED-577A-66E2-035487835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3585FD-AFA2-CE8D-BF5B-2FB036127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273422-18FF-C387-0C4B-E51C48BB2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49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0142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15F2-718D-CA3A-582D-6A93857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8B897-AD34-ABE1-5E8E-B87DC07CF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10580-E2C3-0C0D-8C4B-8CE7F76D8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37116-4E63-975A-4290-394CEBB07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4577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70F1-BFDD-F609-3509-B9A4954C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DA83EA5-755C-3B1B-4199-718FF974E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94B7D0-18E3-C13B-19A2-D022BD853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DAB1C8-C475-5EE6-F434-499FCE280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891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3200">
                <a:solidFill>
                  <a:srgbClr val="FFFFFF"/>
                </a:solidFill>
                <a:latin typeface="Times New Roman"/>
              </a:defRPr>
            </a:lvl1pPr>
          </a:lstStyle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>
                <a:solidFill>
                  <a:srgbClr val="FFFFFF"/>
                </a:solidFill>
              </a:defRPr>
            </a:lvl2pPr>
            <a:lvl3pPr marL="914400" indent="0" algn="ctr">
              <a:buNone/>
              <a:defRPr sz="1800">
                <a:solidFill>
                  <a:srgbClr val="FFFFFF"/>
                </a:solidFill>
              </a:defRPr>
            </a:lvl3pPr>
            <a:lvl4pPr marL="1371600" indent="0" algn="ctr">
              <a:buNone/>
              <a:defRPr sz="1600">
                <a:solidFill>
                  <a:srgbClr val="FFFFFF"/>
                </a:solidFill>
              </a:defRPr>
            </a:lvl4pPr>
            <a:lvl5pPr marL="1828800" indent="0" algn="ctr">
              <a:buNone/>
              <a:defRPr sz="1600">
                <a:solidFill>
                  <a:srgbClr val="FFFFFF"/>
                </a:solidFill>
              </a:defRPr>
            </a:lvl5pPr>
            <a:lvl6pPr marL="2286000" indent="0" algn="ctr">
              <a:buNone/>
              <a:defRPr sz="1600">
                <a:solidFill>
                  <a:srgbClr val="FFFFFF"/>
                </a:solidFill>
              </a:defRPr>
            </a:lvl6pPr>
            <a:lvl7pPr marL="2743200" indent="0" algn="ctr">
              <a:buNone/>
              <a:defRPr sz="1600">
                <a:solidFill>
                  <a:srgbClr val="FFFFFF"/>
                </a:solidFill>
              </a:defRPr>
            </a:lvl7pPr>
            <a:lvl8pPr marL="3200400" indent="0" algn="ctr">
              <a:buNone/>
              <a:defRPr sz="1600">
                <a:solidFill>
                  <a:srgbClr val="FFFFFF"/>
                </a:solidFill>
              </a:defRPr>
            </a:lvl8pPr>
            <a:lvl9pPr marL="3657600" indent="0" algn="ctr">
              <a:buNone/>
              <a:defRPr sz="1600">
                <a:solidFill>
                  <a:srgbClr val="FFFFFF"/>
                </a:solidFill>
              </a:defRPr>
            </a:lvl9pPr>
          </a:lstStyle>
          <a:p>
            <a:r>
              <a:rPr lang="es-ES">
                <a:solidFill>
                  <a:srgbClr val="FFFFFF"/>
                </a:solidFill>
              </a:rPr>
              <a:t>Haga clic para modificar el estilo de subtítulo del patrón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E1A1C-61AA-4ACB-A7A4-07405EF22E40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99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9D4-58A3-4D97-A39E-ACB94FA4CC51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29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  <a:latin typeface="Times New Roman"/>
              </a:defRPr>
            </a:lvl1pPr>
          </a:lstStyle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rgbClr val="FFFFFF"/>
                </a:solidFill>
              </a:defRPr>
            </a:lvl2pPr>
            <a:lvl3pPr marL="914400" indent="0">
              <a:buNone/>
              <a:defRPr sz="1800">
                <a:solidFill>
                  <a:srgbClr val="FFFFFF"/>
                </a:solidFill>
              </a:defRPr>
            </a:lvl3pPr>
            <a:lvl4pPr marL="1371600" indent="0">
              <a:buNone/>
              <a:defRPr sz="1600">
                <a:solidFill>
                  <a:srgbClr val="FFFFFF"/>
                </a:solidFill>
              </a:defRPr>
            </a:lvl4pPr>
            <a:lvl5pPr marL="1828800" indent="0">
              <a:buNone/>
              <a:defRPr sz="1600">
                <a:solidFill>
                  <a:srgbClr val="FFFFFF"/>
                </a:solidFill>
              </a:defRPr>
            </a:lvl5pPr>
            <a:lvl6pPr marL="2286000" indent="0">
              <a:buNone/>
              <a:defRPr sz="1600">
                <a:solidFill>
                  <a:srgbClr val="FFFFFF"/>
                </a:solidFill>
              </a:defRPr>
            </a:lvl6pPr>
            <a:lvl7pPr marL="2743200" indent="0">
              <a:buNone/>
              <a:defRPr sz="1600">
                <a:solidFill>
                  <a:srgbClr val="FFFFFF"/>
                </a:solidFill>
              </a:defRPr>
            </a:lvl7pPr>
            <a:lvl8pPr marL="3200400" indent="0">
              <a:buNone/>
              <a:defRPr sz="1600">
                <a:solidFill>
                  <a:srgbClr val="FFFFFF"/>
                </a:solidFill>
              </a:defRPr>
            </a:lvl8pPr>
            <a:lvl9pPr marL="3657600" indent="0">
              <a:buNone/>
              <a:defRPr sz="1600">
                <a:solidFill>
                  <a:srgbClr val="FFFFFF"/>
                </a:solidFill>
              </a:defRPr>
            </a:lvl9pPr>
          </a:lstStyle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E681D-527D-450E-8525-B6F4EA990FF9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01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DC54-F11A-4033-96F2-B0F8BF9FDCC4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73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457200" indent="0">
              <a:buNone/>
              <a:defRPr sz="2000" b="1">
                <a:solidFill>
                  <a:srgbClr val="FFFFFF"/>
                </a:solidFill>
              </a:defRPr>
            </a:lvl2pPr>
            <a:lvl3pPr marL="914400" indent="0">
              <a:buNone/>
              <a:defRPr sz="1800" b="1">
                <a:solidFill>
                  <a:srgbClr val="FFFFFF"/>
                </a:solidFill>
              </a:defRPr>
            </a:lvl3pPr>
            <a:lvl4pPr marL="1371600" indent="0">
              <a:buNone/>
              <a:defRPr sz="1600" b="1">
                <a:solidFill>
                  <a:srgbClr val="FFFFFF"/>
                </a:solidFill>
              </a:defRPr>
            </a:lvl4pPr>
            <a:lvl5pPr marL="1828800" indent="0">
              <a:buNone/>
              <a:defRPr sz="1600" b="1">
                <a:solidFill>
                  <a:srgbClr val="FFFFFF"/>
                </a:solidFill>
              </a:defRPr>
            </a:lvl5pPr>
            <a:lvl6pPr marL="2286000" indent="0">
              <a:buNone/>
              <a:defRPr sz="1600" b="1">
                <a:solidFill>
                  <a:srgbClr val="FFFFFF"/>
                </a:solidFill>
              </a:defRPr>
            </a:lvl6pPr>
            <a:lvl7pPr marL="2743200" indent="0">
              <a:buNone/>
              <a:defRPr sz="1600" b="1">
                <a:solidFill>
                  <a:srgbClr val="FFFFFF"/>
                </a:solidFill>
              </a:defRPr>
            </a:lvl7pPr>
            <a:lvl8pPr marL="3200400" indent="0">
              <a:buNone/>
              <a:defRPr sz="1600" b="1">
                <a:solidFill>
                  <a:srgbClr val="FFFFFF"/>
                </a:solidFill>
              </a:defRPr>
            </a:lvl8pPr>
            <a:lvl9pPr marL="3657600" indent="0">
              <a:buNone/>
              <a:defRPr sz="1600" b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457200" indent="0">
              <a:buNone/>
              <a:defRPr sz="2000" b="1">
                <a:solidFill>
                  <a:srgbClr val="FFFFFF"/>
                </a:solidFill>
              </a:defRPr>
            </a:lvl2pPr>
            <a:lvl3pPr marL="914400" indent="0">
              <a:buNone/>
              <a:defRPr sz="1800" b="1">
                <a:solidFill>
                  <a:srgbClr val="FFFFFF"/>
                </a:solidFill>
              </a:defRPr>
            </a:lvl3pPr>
            <a:lvl4pPr marL="1371600" indent="0">
              <a:buNone/>
              <a:defRPr sz="1600" b="1">
                <a:solidFill>
                  <a:srgbClr val="FFFFFF"/>
                </a:solidFill>
              </a:defRPr>
            </a:lvl4pPr>
            <a:lvl5pPr marL="1828800" indent="0">
              <a:buNone/>
              <a:defRPr sz="1600" b="1">
                <a:solidFill>
                  <a:srgbClr val="FFFFFF"/>
                </a:solidFill>
              </a:defRPr>
            </a:lvl5pPr>
            <a:lvl6pPr marL="2286000" indent="0">
              <a:buNone/>
              <a:defRPr sz="1600" b="1">
                <a:solidFill>
                  <a:srgbClr val="FFFFFF"/>
                </a:solidFill>
              </a:defRPr>
            </a:lvl6pPr>
            <a:lvl7pPr marL="2743200" indent="0">
              <a:buNone/>
              <a:defRPr sz="1600" b="1">
                <a:solidFill>
                  <a:srgbClr val="FFFFFF"/>
                </a:solidFill>
              </a:defRPr>
            </a:lvl7pPr>
            <a:lvl8pPr marL="3200400" indent="0">
              <a:buNone/>
              <a:defRPr sz="1600" b="1">
                <a:solidFill>
                  <a:srgbClr val="FFFFFF"/>
                </a:solidFill>
              </a:defRPr>
            </a:lvl8pPr>
            <a:lvl9pPr marL="3657600" indent="0">
              <a:buNone/>
              <a:defRPr sz="1600" b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B1611-5FF5-4C8D-BA4F-33407524CC54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04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D9BB-1A92-44A1-9089-CA119CF02116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4020-4A22-42D5-B5CC-B5C09AAAEBBE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06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  <a:latin typeface="Times New Roman"/>
              </a:defRPr>
            </a:lvl1pPr>
          </a:lstStyle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  <a:lvl2pPr>
              <a:defRPr sz="28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000">
                <a:solidFill>
                  <a:srgbClr val="FFFFFF"/>
                </a:solidFill>
              </a:defRPr>
            </a:lvl4pPr>
            <a:lvl5pPr>
              <a:defRPr sz="2000">
                <a:solidFill>
                  <a:srgbClr val="FFFFFF"/>
                </a:solidFill>
              </a:defRPr>
            </a:lvl5pPr>
            <a:lvl6pPr>
              <a:defRPr sz="2000">
                <a:solidFill>
                  <a:srgbClr val="FFFFFF"/>
                </a:solidFill>
              </a:defRPr>
            </a:lvl6pPr>
            <a:lvl7pPr>
              <a:defRPr sz="2000">
                <a:solidFill>
                  <a:srgbClr val="FFFFFF"/>
                </a:solidFill>
              </a:defRPr>
            </a:lvl7pPr>
            <a:lvl8pPr>
              <a:defRPr sz="2000">
                <a:solidFill>
                  <a:srgbClr val="FFFFFF"/>
                </a:solidFill>
              </a:defRPr>
            </a:lvl8pPr>
            <a:lvl9pPr>
              <a:defRPr sz="2000">
                <a:solidFill>
                  <a:srgbClr val="FFFFFF"/>
                </a:solidFill>
              </a:defRPr>
            </a:lvl9pPr>
          </a:lstStyle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400">
                <a:solidFill>
                  <a:srgbClr val="FFFFFF"/>
                </a:solidFill>
              </a:defRPr>
            </a:lvl2pPr>
            <a:lvl3pPr marL="914400" indent="0">
              <a:buNone/>
              <a:defRPr sz="1200">
                <a:solidFill>
                  <a:srgbClr val="FFFFFF"/>
                </a:solidFill>
              </a:defRPr>
            </a:lvl3pPr>
            <a:lvl4pPr marL="1371600" indent="0">
              <a:buNone/>
              <a:defRPr sz="1000">
                <a:solidFill>
                  <a:srgbClr val="FFFFFF"/>
                </a:solidFill>
              </a:defRPr>
            </a:lvl4pPr>
            <a:lvl5pPr marL="1828800" indent="0">
              <a:buNone/>
              <a:defRPr sz="1000">
                <a:solidFill>
                  <a:srgbClr val="FFFFFF"/>
                </a:solidFill>
              </a:defRPr>
            </a:lvl5pPr>
            <a:lvl6pPr marL="2286000" indent="0">
              <a:buNone/>
              <a:defRPr sz="1000">
                <a:solidFill>
                  <a:srgbClr val="FFFFFF"/>
                </a:solidFill>
              </a:defRPr>
            </a:lvl6pPr>
            <a:lvl7pPr marL="2743200" indent="0">
              <a:buNone/>
              <a:defRPr sz="1000">
                <a:solidFill>
                  <a:srgbClr val="FFFFFF"/>
                </a:solidFill>
              </a:defRPr>
            </a:lvl7pPr>
            <a:lvl8pPr marL="3200400" indent="0">
              <a:buNone/>
              <a:defRPr sz="1000">
                <a:solidFill>
                  <a:srgbClr val="FFFFFF"/>
                </a:solidFill>
              </a:defRPr>
            </a:lvl8pPr>
            <a:lvl9pPr marL="3657600" indent="0">
              <a:buNone/>
              <a:defRPr sz="1000">
                <a:solidFill>
                  <a:srgbClr val="FFFFFF"/>
                </a:solidFill>
              </a:defRPr>
            </a:lvl9pPr>
          </a:lstStyle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F00B-A5D5-483A-9392-1955C463A0EA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70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  <a:latin typeface="Times New Roman"/>
              </a:defRPr>
            </a:lvl1pPr>
          </a:lstStyle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solidFill>
                  <a:srgbClr val="FFFFFF"/>
                </a:solidFill>
              </a:defRPr>
            </a:lvl1pPr>
            <a:lvl2pPr marL="457200" indent="0">
              <a:buNone/>
              <a:defRPr sz="2800">
                <a:solidFill>
                  <a:srgbClr val="FFFFFF"/>
                </a:solidFill>
              </a:defRPr>
            </a:lvl2pPr>
            <a:lvl3pPr marL="914400" indent="0">
              <a:buNone/>
              <a:defRPr sz="2400">
                <a:solidFill>
                  <a:srgbClr val="FFFFFF"/>
                </a:solidFill>
              </a:defRPr>
            </a:lvl3pPr>
            <a:lvl4pPr marL="1371600" indent="0">
              <a:buNone/>
              <a:defRPr sz="2000">
                <a:solidFill>
                  <a:srgbClr val="FFFFFF"/>
                </a:solidFill>
              </a:defRPr>
            </a:lvl4pPr>
            <a:lvl5pPr marL="1828800" indent="0">
              <a:buNone/>
              <a:defRPr sz="2000">
                <a:solidFill>
                  <a:srgbClr val="FFFFFF"/>
                </a:solidFill>
              </a:defRPr>
            </a:lvl5pPr>
            <a:lvl6pPr marL="2286000" indent="0">
              <a:buNone/>
              <a:defRPr sz="2000">
                <a:solidFill>
                  <a:srgbClr val="FFFFFF"/>
                </a:solidFill>
              </a:defRPr>
            </a:lvl6pPr>
            <a:lvl7pPr marL="2743200" indent="0">
              <a:buNone/>
              <a:defRPr sz="2000">
                <a:solidFill>
                  <a:srgbClr val="FFFFFF"/>
                </a:solidFill>
              </a:defRPr>
            </a:lvl7pPr>
            <a:lvl8pPr marL="3200400" indent="0">
              <a:buNone/>
              <a:defRPr sz="2000">
                <a:solidFill>
                  <a:srgbClr val="FFFFFF"/>
                </a:solidFill>
              </a:defRPr>
            </a:lvl8pPr>
            <a:lvl9pPr marL="3657600" indent="0">
              <a:buNone/>
              <a:defRPr sz="2000">
                <a:solidFill>
                  <a:srgbClr val="FFFFFF"/>
                </a:solidFill>
              </a:defRPr>
            </a:lvl9pPr>
          </a:lstStyle>
          <a:p>
            <a:r>
              <a:rPr lang="es-ES">
                <a:solidFill>
                  <a:srgbClr val="FFFFFF"/>
                </a:solidFill>
              </a:rPr>
              <a:t>Haga clic en el icono para agregar una imagen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400">
                <a:solidFill>
                  <a:srgbClr val="FFFFFF"/>
                </a:solidFill>
              </a:defRPr>
            </a:lvl2pPr>
            <a:lvl3pPr marL="914400" indent="0">
              <a:buNone/>
              <a:defRPr sz="1200">
                <a:solidFill>
                  <a:srgbClr val="FFFFFF"/>
                </a:solidFill>
              </a:defRPr>
            </a:lvl3pPr>
            <a:lvl4pPr marL="1371600" indent="0">
              <a:buNone/>
              <a:defRPr sz="1000">
                <a:solidFill>
                  <a:srgbClr val="FFFFFF"/>
                </a:solidFill>
              </a:defRPr>
            </a:lvl4pPr>
            <a:lvl5pPr marL="1828800" indent="0">
              <a:buNone/>
              <a:defRPr sz="1000">
                <a:solidFill>
                  <a:srgbClr val="FFFFFF"/>
                </a:solidFill>
              </a:defRPr>
            </a:lvl5pPr>
            <a:lvl6pPr marL="2286000" indent="0">
              <a:buNone/>
              <a:defRPr sz="1000">
                <a:solidFill>
                  <a:srgbClr val="FFFFFF"/>
                </a:solidFill>
              </a:defRPr>
            </a:lvl6pPr>
            <a:lvl7pPr marL="2743200" indent="0">
              <a:buNone/>
              <a:defRPr sz="1000">
                <a:solidFill>
                  <a:srgbClr val="FFFFFF"/>
                </a:solidFill>
              </a:defRPr>
            </a:lvl7pPr>
            <a:lvl8pPr marL="3200400" indent="0">
              <a:buNone/>
              <a:defRPr sz="1000">
                <a:solidFill>
                  <a:srgbClr val="FFFFFF"/>
                </a:solidFill>
              </a:defRPr>
            </a:lvl8pPr>
            <a:lvl9pPr marL="3657600" indent="0">
              <a:buNone/>
              <a:defRPr sz="1000">
                <a:solidFill>
                  <a:srgbClr val="FFFFFF"/>
                </a:solidFill>
              </a:defRPr>
            </a:lvl9pPr>
          </a:lstStyle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F6A08-B25E-422B-99BF-DB785F70696C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94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6CFA-8CBC-4B59-9E14-2C1FAFF35E56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47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B482-2B05-473D-BC18-3FC88FE8636A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38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  <a:latin typeface="Times New Roman"/>
              </a:rPr>
              <a:t>Haga clic para modificar el estilo de título del patrón</a:t>
            </a:r>
            <a:endParaRPr lang="en-US" sz="32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>
                <a:solidFill>
                  <a:srgbClr val="FFFFFF"/>
                </a:solidFill>
              </a:rPr>
              <a:t>Haga clic para modificar los estilos de texto del patrón</a:t>
            </a:r>
          </a:p>
          <a:p>
            <a:pPr lvl="1"/>
            <a:r>
              <a:rPr lang="es-ES">
                <a:solidFill>
                  <a:srgbClr val="FFFFFF"/>
                </a:solidFill>
              </a:rPr>
              <a:t>Segundo nivel</a:t>
            </a:r>
          </a:p>
          <a:p>
            <a:pPr lvl="2"/>
            <a:r>
              <a:rPr lang="es-ES">
                <a:solidFill>
                  <a:srgbClr val="FFFFFF"/>
                </a:solidFill>
              </a:rPr>
              <a:t>Tercer nivel</a:t>
            </a:r>
          </a:p>
          <a:p>
            <a:pPr lvl="3"/>
            <a:r>
              <a:rPr lang="es-ES">
                <a:solidFill>
                  <a:srgbClr val="FFFFFF"/>
                </a:solidFill>
              </a:rPr>
              <a:t>Cuarto nivel</a:t>
            </a:r>
          </a:p>
          <a:p>
            <a:pPr lvl="4"/>
            <a:r>
              <a:rPr lang="es-ES">
                <a:solidFill>
                  <a:srgbClr val="FFFFFF"/>
                </a:solidFill>
              </a:rPr>
              <a:t>Quinto nivel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5D64F7F-D252-43CD-BA8D-89EF72903914}" type="datetime1">
              <a:rPr lang="es-ES_tradnl" smtClean="0">
                <a:solidFill>
                  <a:srgbClr val="FFFFFF"/>
                </a:solidFill>
              </a:rPr>
              <a:t>18/06/2026</a:t>
            </a:fld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‹Nº›</a:t>
            </a:fld>
            <a:endParaRPr lang="es-ES_trad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23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FFFFFF"/>
          </a:solidFill>
          <a:latin typeface="Times New Roma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0EF9E-7BFB-D778-B95E-5EE095945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122683E-F0D3-70BA-929F-9D234D76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5"/>
            <a:ext cx="9164140" cy="685130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F5E909C-0814-074D-4FCF-6AC128524F60}"/>
              </a:ext>
            </a:extLst>
          </p:cNvPr>
          <p:cNvCxnSpPr/>
          <p:nvPr/>
        </p:nvCxnSpPr>
        <p:spPr>
          <a:xfrm>
            <a:off x="492141" y="3591697"/>
            <a:ext cx="777864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5F36FB3-4877-164F-EA70-9F96A0F4DE11}"/>
              </a:ext>
            </a:extLst>
          </p:cNvPr>
          <p:cNvCxnSpPr/>
          <p:nvPr/>
        </p:nvCxnSpPr>
        <p:spPr>
          <a:xfrm flipH="1">
            <a:off x="2120209" y="1993147"/>
            <a:ext cx="1" cy="127315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663EDD-D2CE-13E9-1948-F9FC0F009713}"/>
              </a:ext>
            </a:extLst>
          </p:cNvPr>
          <p:cNvSpPr txBox="1"/>
          <p:nvPr/>
        </p:nvSpPr>
        <p:spPr>
          <a:xfrm>
            <a:off x="2274987" y="2417779"/>
            <a:ext cx="57566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>
                <a:latin typeface="Times New Roman"/>
              </a:rPr>
              <a:t>INCREMENTO 1- GRUPO 19 BREWFLOW</a:t>
            </a:r>
          </a:p>
          <a:p>
            <a:pPr algn="ctr"/>
            <a:r>
              <a:rPr lang="es-CL" sz="1400" b="0">
                <a:latin typeface="Times New Roman"/>
              </a:rPr>
              <a:t>Sistema de gestión operativa de inventario · La Casona de Abrantes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DC267C-C6BA-9508-7F16-22430F76A87F}"/>
              </a:ext>
            </a:extLst>
          </p:cNvPr>
          <p:cNvSpPr txBox="1"/>
          <p:nvPr/>
        </p:nvSpPr>
        <p:spPr>
          <a:xfrm>
            <a:off x="3148404" y="3662492"/>
            <a:ext cx="2383715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fontAlgn="base"/>
            <a:r>
              <a:rPr lang="es-CL" sz="1400" b="1" noProof="0"/>
              <a:t>Autores: 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Max Fernández Soto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Luis González Flores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Santiago Monsalve Sanchez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Cristóbal Osorio Riquelme</a:t>
            </a:r>
            <a:endParaRPr lang="es-CL" sz="1400" noProof="0"/>
          </a:p>
          <a:p>
            <a:pPr algn="ctr"/>
            <a:r>
              <a:rPr lang="es-CL" sz="1400" noProof="0">
                <a:ea typeface="+mn-lt"/>
                <a:cs typeface="+mn-lt"/>
              </a:rPr>
              <a:t>Fernando Quilaqueo</a:t>
            </a:r>
            <a:endParaRPr lang="es-CL" sz="1400" noProof="0"/>
          </a:p>
          <a:p>
            <a:pPr algn="ctr"/>
            <a:r>
              <a:rPr lang="es-CL" sz="1400" noProof="0">
                <a:ea typeface="+mn-lt"/>
                <a:cs typeface="+mn-lt"/>
              </a:rPr>
              <a:t>Gonzalo Zamarreño Pinto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14C233D-3C2B-30CB-320D-47921EACE5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-2650" y="1762"/>
            <a:ext cx="9168083" cy="143569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28F9473-ECED-A15D-1E5D-FAB1E4C0BE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B3E34FC-F40F-2D61-B856-CE442F9F5F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052784"/>
            <a:ext cx="1279083" cy="11895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D117DF9-4106-23E8-C8B9-7C81B068455E}"/>
              </a:ext>
            </a:extLst>
          </p:cNvPr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noProof="0">
              <a:solidFill>
                <a:srgbClr val="0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4FDF9C-FDE1-779C-AAF5-C889F34D6D9F}"/>
              </a:ext>
            </a:extLst>
          </p:cNvPr>
          <p:cNvSpPr txBox="1"/>
          <p:nvPr/>
        </p:nvSpPr>
        <p:spPr>
          <a:xfrm>
            <a:off x="129264" y="6077217"/>
            <a:ext cx="3820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/>
              <a:t>Paulo Luis Francisco Quinsacara Jofré</a:t>
            </a:r>
          </a:p>
          <a:p>
            <a:endParaRPr lang="es-CL" noProof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C82116-89C7-D33D-EC43-26E9332839A8}"/>
              </a:ext>
            </a:extLst>
          </p:cNvPr>
          <p:cNvSpPr txBox="1"/>
          <p:nvPr/>
        </p:nvSpPr>
        <p:spPr>
          <a:xfrm>
            <a:off x="6938577" y="6074946"/>
            <a:ext cx="1977295" cy="37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/>
              <a:t>17</a:t>
            </a:r>
            <a:r>
              <a:rPr lang="es-CL" noProof="0"/>
              <a:t> </a:t>
            </a:r>
            <a:r>
              <a:rPr lang="es-CL"/>
              <a:t>junio 2026</a:t>
            </a:r>
            <a:endParaRPr lang="es-CL" noProof="0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C8220C82-9BCD-DB77-3935-EE603D64CB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789" y="349738"/>
            <a:ext cx="719254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9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BAFAA-8D50-E07E-FB26-C48344DA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3D071-F444-CC97-D42E-C67670524AAD}"/>
              </a:ext>
            </a:extLst>
          </p:cNvPr>
          <p:cNvSpPr txBox="1"/>
          <p:nvPr/>
        </p:nvSpPr>
        <p:spPr>
          <a:xfrm>
            <a:off x="605858" y="1664677"/>
            <a:ext cx="7296082" cy="386861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noAutofit/>
          </a:bodyPr>
          <a:lstStyle/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sz="1800" b="1">
                <a:solidFill>
                  <a:srgbClr val="FFFFFF"/>
                </a:solidFill>
              </a:rPr>
              <a:t>01</a:t>
            </a:r>
            <a:r>
              <a:rPr lang="es-CL" sz="1800" b="0">
                <a:solidFill>
                  <a:srgbClr val="FFFFFF"/>
                </a:solidFill>
              </a:rPr>
              <a:t>  Contexto del proyecto</a:t>
            </a:r>
            <a:r>
              <a:rPr lang="es-CL" sz="1400" b="0">
                <a:solidFill>
                  <a:srgbClr val="FFFFFF"/>
                </a:solidFill>
              </a:rPr>
              <a:t>  · · · · · · · · </a:t>
            </a:r>
            <a:r>
              <a:rPr lang="es-CL" sz="1400">
                <a:solidFill>
                  <a:srgbClr val="FFFFFF"/>
                </a:solidFill>
              </a:rPr>
              <a:t>· · · · · · · · · · · · · · · · · · · · · · · · · · · · · · · · · · · · · ·</a:t>
            </a:r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02 </a:t>
            </a:r>
            <a:r>
              <a:rPr lang="es-CL">
                <a:solidFill>
                  <a:srgbClr val="FFFFFF"/>
                </a:solidFill>
              </a:rPr>
              <a:t>Alcance del incremento 1 </a:t>
            </a:r>
            <a:r>
              <a:rPr lang="es-CL" sz="1400">
                <a:solidFill>
                  <a:srgbClr val="FFFFFF"/>
                </a:solidFill>
              </a:rPr>
              <a:t>· · · · · · · · · · · · · · · · · · · · · · · · · · · · · · · · · · · · · · · · · · · · </a:t>
            </a:r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sz="1800" b="1">
                <a:solidFill>
                  <a:srgbClr val="FFFFFF"/>
                </a:solidFill>
              </a:rPr>
              <a:t>03</a:t>
            </a:r>
            <a:r>
              <a:rPr lang="es-CL" sz="1800" b="0">
                <a:solidFill>
                  <a:srgbClr val="FFFFFF"/>
                </a:solidFill>
              </a:rPr>
              <a:t>  Propuesta de solución e Incremento</a:t>
            </a:r>
            <a:r>
              <a:rPr lang="es-CL" sz="1400" b="0">
                <a:solidFill>
                  <a:srgbClr val="FFFFFF"/>
                </a:solidFill>
              </a:rPr>
              <a:t>  · · · · · · · ·</a:t>
            </a:r>
            <a:r>
              <a:rPr lang="es-CL" sz="1400">
                <a:solidFill>
                  <a:srgbClr val="FFFFFF"/>
                </a:solidFill>
              </a:rPr>
              <a:t> · · · · · · · · · · · · · · · · · · · · · · · · · ·   </a:t>
            </a:r>
            <a:endParaRPr lang="es-CL" sz="1400">
              <a:solidFill>
                <a:srgbClr val="FFFFFF"/>
              </a:solidFill>
              <a:cs typeface="Times New Roman"/>
            </a:endParaRPr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04</a:t>
            </a:r>
            <a:r>
              <a:rPr lang="es-CL" sz="1800" b="0">
                <a:solidFill>
                  <a:srgbClr val="FFFFFF"/>
                </a:solidFill>
              </a:rPr>
              <a:t>  </a:t>
            </a:r>
            <a:r>
              <a:rPr lang="es-CL">
                <a:solidFill>
                  <a:srgbClr val="FFFFFF"/>
                </a:solidFill>
              </a:rPr>
              <a:t>Vistas arquitectónicas 4+1</a:t>
            </a:r>
            <a:r>
              <a:rPr lang="es-CL" sz="1400" b="0">
                <a:solidFill>
                  <a:srgbClr val="FFFFFF"/>
                </a:solidFill>
              </a:rPr>
              <a:t> </a:t>
            </a:r>
            <a:r>
              <a:rPr lang="es-CL" sz="1400">
                <a:solidFill>
                  <a:srgbClr val="FFFFFF"/>
                </a:solidFill>
              </a:rPr>
              <a:t> </a:t>
            </a:r>
            <a:r>
              <a:rPr lang="es-CL" sz="1400" b="0">
                <a:solidFill>
                  <a:srgbClr val="FFFFFF"/>
                </a:solidFill>
              </a:rPr>
              <a:t>· · · · · · · ·</a:t>
            </a:r>
            <a:r>
              <a:rPr lang="es-CL" sz="1400">
                <a:solidFill>
                  <a:srgbClr val="FFFFFF"/>
                </a:solidFill>
              </a:rPr>
              <a:t> · · · · · · · · · · · · · · · · · · · · · · · · · · · · · · · · · · </a:t>
            </a:r>
            <a:endParaRPr lang="es-CL" sz="1400" b="0">
              <a:solidFill>
                <a:srgbClr val="FFFFFF"/>
              </a:solidFill>
              <a:cs typeface="Times New Roman"/>
            </a:endParaRPr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  <a:cs typeface="Times New Roman"/>
              </a:rPr>
              <a:t>05</a:t>
            </a:r>
            <a:r>
              <a:rPr lang="es-CL">
                <a:solidFill>
                  <a:srgbClr val="FFFFFF"/>
                </a:solidFill>
                <a:cs typeface="Times New Roman"/>
              </a:rPr>
              <a:t>  Trazabilidad UR 2.2  </a:t>
            </a:r>
            <a:r>
              <a:rPr lang="es-CL" sz="1400">
                <a:solidFill>
                  <a:srgbClr val="FFFFFF"/>
                </a:solidFill>
                <a:cs typeface="Times New Roman"/>
              </a:rPr>
              <a:t>· · · · · · · · · · · · · · · · · · · · · · · · · · · · · · · · · · · · · · · · · · · · · · ·   </a:t>
            </a:r>
            <a:endParaRPr lang="en-US" sz="1400">
              <a:solidFill>
                <a:srgbClr val="FFFFFF"/>
              </a:solidFill>
              <a:cs typeface="Times New Roman"/>
            </a:endParaRPr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06</a:t>
            </a:r>
            <a:r>
              <a:rPr lang="es-CL" sz="1800" b="0">
                <a:solidFill>
                  <a:srgbClr val="FFFFFF"/>
                </a:solidFill>
              </a:rPr>
              <a:t>  </a:t>
            </a:r>
            <a:r>
              <a:rPr lang="es-CL">
                <a:solidFill>
                  <a:srgbClr val="FFFFFF"/>
                </a:solidFill>
              </a:rPr>
              <a:t>Trazabilidad</a:t>
            </a:r>
            <a:r>
              <a:rPr lang="es-CL" b="0">
                <a:solidFill>
                  <a:srgbClr val="FFFFFF"/>
                </a:solidFill>
              </a:rPr>
              <a:t> </a:t>
            </a:r>
            <a:r>
              <a:rPr lang="es-CL">
                <a:solidFill>
                  <a:srgbClr val="FFFFFF"/>
                </a:solidFill>
              </a:rPr>
              <a:t>UR</a:t>
            </a:r>
            <a:r>
              <a:rPr lang="es-CL" b="0">
                <a:solidFill>
                  <a:srgbClr val="FFFFFF"/>
                </a:solidFill>
              </a:rPr>
              <a:t> </a:t>
            </a:r>
            <a:r>
              <a:rPr lang="es-CL">
                <a:solidFill>
                  <a:srgbClr val="FFFFFF"/>
                </a:solidFill>
              </a:rPr>
              <a:t>4.1 </a:t>
            </a:r>
            <a:r>
              <a:rPr lang="es-CL" sz="1400">
                <a:solidFill>
                  <a:srgbClr val="FFFFFF"/>
                </a:solidFill>
              </a:rPr>
              <a:t> · · · · </a:t>
            </a:r>
            <a:r>
              <a:rPr lang="es-CL" sz="1400" b="0">
                <a:solidFill>
                  <a:srgbClr val="FFFFFF"/>
                </a:solidFill>
              </a:rPr>
              <a:t>· · · · · · · ·</a:t>
            </a:r>
            <a:r>
              <a:rPr lang="es-CL" sz="1400">
                <a:solidFill>
                  <a:srgbClr val="FFFFFF"/>
                </a:solidFill>
              </a:rPr>
              <a:t> · · · · · · · · · · · · · · · · · · · · · · · · · · · · · · · · · · · </a:t>
            </a:r>
            <a:endParaRPr lang="es-CL"/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07</a:t>
            </a:r>
            <a:r>
              <a:rPr lang="es-CL" sz="1800" b="0">
                <a:solidFill>
                  <a:srgbClr val="FFFFFF"/>
                </a:solidFill>
              </a:rPr>
              <a:t>  Traza Scrum++</a:t>
            </a:r>
            <a:r>
              <a:rPr lang="es-CL" sz="1400" b="0">
                <a:solidFill>
                  <a:srgbClr val="FFFFFF"/>
                </a:solidFill>
              </a:rPr>
              <a:t>  · · · · · · · ·</a:t>
            </a:r>
            <a:r>
              <a:rPr lang="es-CL" sz="1400">
                <a:solidFill>
                  <a:srgbClr val="FFFFFF"/>
                </a:solidFill>
              </a:rPr>
              <a:t> · · · · · · · · · · · · · · · · · · · · · · · · · · · · · · · · · · · · · · · · · · · </a:t>
            </a:r>
          </a:p>
          <a:p>
            <a:pPr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06</a:t>
            </a:r>
            <a:r>
              <a:rPr lang="es-CL" sz="1400">
                <a:solidFill>
                  <a:srgbClr val="FFFFFF"/>
                </a:solidFill>
              </a:rPr>
              <a:t> </a:t>
            </a:r>
            <a:r>
              <a:rPr lang="es-CL">
                <a:solidFill>
                  <a:srgbClr val="FFFFFF"/>
                </a:solidFill>
              </a:rPr>
              <a:t>Gráficos de seguimiento </a:t>
            </a:r>
            <a:r>
              <a:rPr lang="es-CL" sz="1400">
                <a:solidFill>
                  <a:srgbClr val="FFFFFF"/>
                </a:solidFill>
              </a:rPr>
              <a:t>· · · · · · · · · · · · · · · · · · · · · · · · · · · · · · · · · · · · · · · · · · · · · </a:t>
            </a:r>
          </a:p>
          <a:p>
            <a:endParaRPr lang="es-CL" sz="1800">
              <a:solidFill>
                <a:srgbClr val="FFFFF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0993759-3B1D-AF44-1270-8988BFE26C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3707" y="-577"/>
            <a:ext cx="9147707" cy="68958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76B6ABB-B28C-51D1-78EC-35CEF7BCE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207D352-4577-4E2F-E5A3-B4316155D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832" y="38878"/>
            <a:ext cx="7772400" cy="600029"/>
          </a:xfrm>
        </p:spPr>
        <p:txBody>
          <a:bodyPr>
            <a:normAutofit/>
          </a:bodyPr>
          <a:lstStyle/>
          <a:p>
            <a:pPr algn="l"/>
            <a:r>
              <a:rPr lang="en-US" sz="2600"/>
              <a:t>TABLA</a:t>
            </a:r>
            <a:r>
              <a:rPr lang="en-US" sz="2600" baseline="0"/>
              <a:t> DE CONTENIDOS</a:t>
            </a:r>
            <a:endParaRPr lang="en-US" sz="2600"/>
          </a:p>
        </p:txBody>
      </p:sp>
      <p:sp>
        <p:nvSpPr>
          <p:cNvPr id="13" name="Numbers"/>
          <p:cNvSpPr>
            <a:spLocks noGrp="1"/>
          </p:cNvSpPr>
          <p:nvPr/>
        </p:nvSpPr>
        <p:spPr>
          <a:xfrm>
            <a:off x="7736359" y="1664677"/>
            <a:ext cx="500380" cy="4559300"/>
          </a:xfrm>
          <a:prstGeom prst="rect">
            <a:avLst/>
          </a:prstGeom>
          <a:noFill/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s-CL" sz="1800" b="1">
                <a:solidFill>
                  <a:srgbClr val="FFFFFF"/>
                </a:solidFill>
              </a:rPr>
              <a:t>03</a:t>
            </a:r>
          </a:p>
          <a:p>
            <a:pPr marL="0" indent="0"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s-CL" sz="1800" b="1">
                <a:solidFill>
                  <a:srgbClr val="FFFFFF"/>
                </a:solidFill>
              </a:rPr>
              <a:t>0</a:t>
            </a:r>
            <a:r>
              <a:rPr lang="es-CL" b="1">
                <a:solidFill>
                  <a:srgbClr val="FFFFFF"/>
                </a:solidFill>
              </a:rPr>
              <a:t>4</a:t>
            </a:r>
            <a:endParaRPr lang="es-CL" sz="1800" b="1">
              <a:solidFill>
                <a:srgbClr val="FFFFFF"/>
              </a:solidFill>
            </a:endParaRPr>
          </a:p>
          <a:p>
            <a:pPr marL="0" indent="0"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s-CL" sz="1800" b="1">
                <a:solidFill>
                  <a:srgbClr val="FFFFFF"/>
                </a:solidFill>
              </a:rPr>
              <a:t>0</a:t>
            </a:r>
            <a:r>
              <a:rPr lang="es-CL" b="1">
                <a:solidFill>
                  <a:srgbClr val="FFFFFF"/>
                </a:solidFill>
              </a:rPr>
              <a:t>5</a:t>
            </a:r>
            <a:endParaRPr lang="es-CL" sz="1800" b="1">
              <a:solidFill>
                <a:srgbClr val="FFFFFF"/>
              </a:solidFill>
            </a:endParaRPr>
          </a:p>
          <a:p>
            <a:pPr marL="0" indent="0"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s-CL" sz="1800" b="1">
                <a:solidFill>
                  <a:srgbClr val="FFFFFF"/>
                </a:solidFill>
              </a:rPr>
              <a:t>0</a:t>
            </a:r>
            <a:r>
              <a:rPr lang="es-CL" b="1">
                <a:solidFill>
                  <a:srgbClr val="FFFFFF"/>
                </a:solidFill>
              </a:rPr>
              <a:t>6</a:t>
            </a:r>
            <a:endParaRPr lang="es-CL" sz="1800" b="1">
              <a:solidFill>
                <a:srgbClr val="FFFFFF"/>
              </a:solidFill>
            </a:endParaRPr>
          </a:p>
          <a:p>
            <a:pPr marL="0" indent="0"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s-CL" b="1">
                <a:cs typeface="Times New Roman"/>
              </a:rPr>
              <a:t>10</a:t>
            </a:r>
          </a:p>
          <a:p>
            <a:pPr marL="0" indent="0"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s-CL" b="1">
                <a:solidFill>
                  <a:srgbClr val="FFFFFF"/>
                </a:solidFill>
              </a:rPr>
              <a:t>14</a:t>
            </a:r>
            <a:endParaRPr lang="es-CL"/>
          </a:p>
          <a:p>
            <a:pPr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18</a:t>
            </a:r>
          </a:p>
          <a:p>
            <a:pPr algn="r">
              <a:lnSpc>
                <a:spcPts val="3200"/>
              </a:lnSpc>
              <a:spcBef>
                <a:spcPts val="200"/>
              </a:spcBef>
              <a:spcAft>
                <a:spcPts val="200"/>
              </a:spcAft>
            </a:pPr>
            <a:r>
              <a:rPr lang="es-CL" b="1">
                <a:solidFill>
                  <a:srgbClr val="FFFFFF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4467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AA98-4A03-F6F7-B018-266B606A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pied Picture 10" descr="SD&#10;">
            <a:extLst>
              <a:ext uri="{FF2B5EF4-FFF2-40B4-BE49-F238E27FC236}">
                <a16:creationId xmlns:a16="http://schemas.microsoft.com/office/drawing/2014/main" id="{B99A51AD-EA38-B050-6A8E-74284D7614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B129DE-24AC-A21C-0035-28DCEDA2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179" y="127101"/>
            <a:ext cx="6794562" cy="5622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sz="2600" kern="1200">
                <a:latin typeface="+mj-lt"/>
              </a:rPr>
              <a:t>1. CONTEXTO DEL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F742190-8DA7-CA6F-3CEF-F908A471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6114" y="6439858"/>
            <a:ext cx="2057400" cy="365125"/>
          </a:xfrm>
        </p:spPr>
        <p:txBody>
          <a:bodyPr/>
          <a:lstStyle/>
          <a:p>
            <a:fld id="{3352F6F5-E16D-F340-A90C-ABCF032D59B6}" type="slidenum">
              <a:rPr lang="es-CL" noProof="0" smtClean="0"/>
              <a:t>3</a:t>
            </a:fld>
            <a:endParaRPr lang="es-CL" noProof="0"/>
          </a:p>
        </p:txBody>
      </p:sp>
      <p:pic>
        <p:nvPicPr>
          <p:cNvPr id="9" name="Imagen 1" descr="A logo with text on it&#10;&#10;AI-generated content may be incorrect.">
            <a:extLst>
              <a:ext uri="{FF2B5EF4-FFF2-40B4-BE49-F238E27FC236}">
                <a16:creationId xmlns:a16="http://schemas.microsoft.com/office/drawing/2014/main" id="{B1F725FE-E109-B458-AD67-B7AD8D0A5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11" name="Copied Picture 11">
            <a:extLst>
              <a:ext uri="{FF2B5EF4-FFF2-40B4-BE49-F238E27FC236}">
                <a16:creationId xmlns:a16="http://schemas.microsoft.com/office/drawing/2014/main" id="{54CF6EA2-AD39-B310-275F-4FC500638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B787E93-E22C-C240-B443-EB0ED528188D}"/>
              </a:ext>
            </a:extLst>
          </p:cNvPr>
          <p:cNvGrpSpPr/>
          <p:nvPr/>
        </p:nvGrpSpPr>
        <p:grpSpPr>
          <a:xfrm>
            <a:off x="533850" y="2003751"/>
            <a:ext cx="2377560" cy="4340902"/>
            <a:chOff x="533850" y="2003751"/>
            <a:chExt cx="2377560" cy="434090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9D4BA55-B07C-2468-9A25-A6007D5A8A51}"/>
                </a:ext>
              </a:extLst>
            </p:cNvPr>
            <p:cNvSpPr/>
            <p:nvPr/>
          </p:nvSpPr>
          <p:spPr>
            <a:xfrm>
              <a:off x="533850" y="2003751"/>
              <a:ext cx="2374832" cy="434090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Times New Roman"/>
              </a:endParaRPr>
            </a:p>
            <a:p>
              <a:pPr algn="ctr"/>
              <a:endParaRPr lang="en-US">
                <a:cs typeface="Times New Roman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8AC0A9-76E3-DE71-AADD-6890AC483EF6}"/>
                </a:ext>
              </a:extLst>
            </p:cNvPr>
            <p:cNvSpPr txBox="1"/>
            <p:nvPr/>
          </p:nvSpPr>
          <p:spPr>
            <a:xfrm>
              <a:off x="594034" y="2294985"/>
              <a:ext cx="2317376" cy="369331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err="1">
                  <a:cs typeface="Times New Roman"/>
                </a:rPr>
                <a:t>Problema</a:t>
              </a:r>
              <a:r>
                <a:rPr lang="en-US">
                  <a:cs typeface="Times New Roman"/>
                </a:rPr>
                <a:t>: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ea typeface="+mn-lt"/>
                  <a:cs typeface="+mn-lt"/>
                </a:rPr>
                <a:t>Control de </a:t>
              </a:r>
              <a:r>
                <a:rPr lang="en-US" err="1">
                  <a:ea typeface="+mn-lt"/>
                  <a:cs typeface="+mn-lt"/>
                </a:rPr>
                <a:t>inventario</a:t>
              </a:r>
              <a:r>
                <a:rPr lang="en-US">
                  <a:ea typeface="+mn-lt"/>
                  <a:cs typeface="+mn-lt"/>
                </a:rPr>
                <a:t> con </a:t>
              </a:r>
              <a:r>
                <a:rPr lang="en-US" err="1">
                  <a:ea typeface="+mn-lt"/>
                  <a:cs typeface="+mn-lt"/>
                </a:rPr>
                <a:t>procesos</a:t>
              </a:r>
              <a:r>
                <a:rPr lang="en-US">
                  <a:ea typeface="+mn-lt"/>
                  <a:cs typeface="+mn-lt"/>
                </a:rPr>
                <a:t> </a:t>
              </a:r>
              <a:r>
                <a:rPr lang="en-US" err="1">
                  <a:ea typeface="+mn-lt"/>
                  <a:cs typeface="+mn-lt"/>
                </a:rPr>
                <a:t>manuales</a:t>
              </a:r>
              <a:r>
                <a:rPr lang="en-US">
                  <a:ea typeface="+mn-lt"/>
                  <a:cs typeface="+mn-lt"/>
                </a:rPr>
                <a:t>. 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ea typeface="+mn-lt"/>
                  <a:cs typeface="+mn-lt"/>
                </a:rPr>
                <a:t>Escasa</a:t>
              </a:r>
              <a:r>
                <a:rPr lang="en-US">
                  <a:ea typeface="+mn-lt"/>
                  <a:cs typeface="+mn-lt"/>
                </a:rPr>
                <a:t> </a:t>
              </a:r>
              <a:r>
                <a:rPr lang="en-US" err="1">
                  <a:ea typeface="+mn-lt"/>
                  <a:cs typeface="+mn-lt"/>
                </a:rPr>
                <a:t>trazabilidad</a:t>
              </a:r>
              <a:r>
                <a:rPr lang="en-US">
                  <a:ea typeface="+mn-lt"/>
                  <a:cs typeface="+mn-lt"/>
                </a:rPr>
                <a:t> de </a:t>
              </a:r>
              <a:r>
                <a:rPr lang="en-US" err="1">
                  <a:ea typeface="+mn-lt"/>
                  <a:cs typeface="+mn-lt"/>
                </a:rPr>
                <a:t>productos</a:t>
              </a:r>
              <a:r>
                <a:rPr lang="en-US">
                  <a:ea typeface="+mn-lt"/>
                  <a:cs typeface="+mn-lt"/>
                </a:rPr>
                <a:t> y </a:t>
              </a:r>
              <a:r>
                <a:rPr lang="en-US" err="1">
                  <a:ea typeface="+mn-lt"/>
                  <a:cs typeface="+mn-lt"/>
                </a:rPr>
                <a:t>lotes</a:t>
              </a:r>
              <a:r>
                <a:rPr lang="en-US">
                  <a:ea typeface="+mn-lt"/>
                  <a:cs typeface="+mn-lt"/>
                </a:rPr>
                <a:t>. 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ea typeface="+mn-lt"/>
                  <a:cs typeface="+mn-lt"/>
                </a:rPr>
                <a:t>Dificultad</a:t>
              </a:r>
              <a:r>
                <a:rPr lang="en-US">
                  <a:ea typeface="+mn-lt"/>
                  <a:cs typeface="+mn-lt"/>
                </a:rPr>
                <a:t> para </a:t>
              </a:r>
              <a:r>
                <a:rPr lang="en-US" err="1">
                  <a:ea typeface="+mn-lt"/>
                  <a:cs typeface="+mn-lt"/>
                </a:rPr>
                <a:t>integrar</a:t>
              </a:r>
              <a:r>
                <a:rPr lang="en-US">
                  <a:ea typeface="+mn-lt"/>
                  <a:cs typeface="+mn-lt"/>
                </a:rPr>
                <a:t> la </a:t>
              </a:r>
              <a:r>
                <a:rPr lang="en-US" err="1">
                  <a:ea typeface="+mn-lt"/>
                  <a:cs typeface="+mn-lt"/>
                </a:rPr>
                <a:t>información</a:t>
              </a:r>
              <a:r>
                <a:rPr lang="en-US">
                  <a:ea typeface="+mn-lt"/>
                  <a:cs typeface="+mn-lt"/>
                </a:rPr>
                <a:t> </a:t>
              </a:r>
              <a:r>
                <a:rPr lang="en-US" err="1">
                  <a:ea typeface="+mn-lt"/>
                  <a:cs typeface="+mn-lt"/>
                </a:rPr>
                <a:t>operativa</a:t>
              </a:r>
              <a:r>
                <a:rPr lang="en-US">
                  <a:ea typeface="+mn-lt"/>
                  <a:cs typeface="+mn-lt"/>
                </a:rPr>
                <a:t>.</a:t>
              </a:r>
              <a:endParaRPr lang="en-US"/>
            </a:p>
            <a:p>
              <a:endParaRPr lang="en-US">
                <a:cs typeface="Times New Roman"/>
              </a:endParaRPr>
            </a:p>
            <a:p>
              <a:endParaRPr lang="en-US">
                <a:cs typeface="Times New Roman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0F881C-220F-EF1B-EB00-25CB3FD1B96C}"/>
              </a:ext>
            </a:extLst>
          </p:cNvPr>
          <p:cNvGrpSpPr/>
          <p:nvPr/>
        </p:nvGrpSpPr>
        <p:grpSpPr>
          <a:xfrm>
            <a:off x="3425274" y="2035066"/>
            <a:ext cx="2377559" cy="4340902"/>
            <a:chOff x="3425274" y="2035066"/>
            <a:chExt cx="2377559" cy="43409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0EEC4F5-64F9-9FB1-CBC0-2EDB71977251}"/>
                </a:ext>
              </a:extLst>
            </p:cNvPr>
            <p:cNvSpPr/>
            <p:nvPr/>
          </p:nvSpPr>
          <p:spPr>
            <a:xfrm>
              <a:off x="3425274" y="2035066"/>
              <a:ext cx="2374832" cy="434090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Times New Roman"/>
              </a:endParaRPr>
            </a:p>
            <a:p>
              <a:pPr algn="ctr"/>
              <a:endParaRPr lang="en-US">
                <a:cs typeface="Times New Roman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9B4C-C256-57D7-DE00-445AEF2CB65A}"/>
                </a:ext>
              </a:extLst>
            </p:cNvPr>
            <p:cNvSpPr txBox="1"/>
            <p:nvPr/>
          </p:nvSpPr>
          <p:spPr>
            <a:xfrm>
              <a:off x="3485456" y="2326300"/>
              <a:ext cx="2317377" cy="23083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err="1">
                  <a:cs typeface="Times New Roman"/>
                </a:rPr>
                <a:t>Solucion</a:t>
              </a:r>
              <a:r>
                <a:rPr lang="en-US">
                  <a:cs typeface="Times New Roman"/>
                </a:rPr>
                <a:t> </a:t>
              </a:r>
              <a:r>
                <a:rPr lang="en-US" err="1">
                  <a:cs typeface="Times New Roman"/>
                </a:rPr>
                <a:t>Propuesta</a:t>
              </a:r>
              <a:r>
                <a:rPr lang="en-US">
                  <a:cs typeface="Times New Roman"/>
                </a:rPr>
                <a:t>: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b="1" err="1">
                  <a:ea typeface="+mn-lt"/>
                  <a:cs typeface="+mn-lt"/>
                </a:rPr>
                <a:t>BrewFlow</a:t>
              </a:r>
              <a:r>
                <a:rPr lang="en-US" b="1">
                  <a:ea typeface="+mn-lt"/>
                  <a:cs typeface="+mn-lt"/>
                </a:rPr>
                <a:t>:</a:t>
              </a:r>
              <a:r>
                <a:rPr lang="en-US">
                  <a:ea typeface="+mn-lt"/>
                  <a:cs typeface="+mn-lt"/>
                </a:rPr>
                <a:t> </a:t>
              </a:r>
              <a:r>
                <a:rPr lang="en-US" err="1">
                  <a:ea typeface="+mn-lt"/>
                  <a:cs typeface="+mn-lt"/>
                </a:rPr>
                <a:t>plataforma</a:t>
              </a:r>
              <a:r>
                <a:rPr lang="en-US">
                  <a:ea typeface="+mn-lt"/>
                  <a:cs typeface="+mn-lt"/>
                </a:rPr>
                <a:t> web para la </a:t>
              </a:r>
              <a:r>
                <a:rPr lang="en-US" err="1">
                  <a:ea typeface="+mn-lt"/>
                  <a:cs typeface="+mn-lt"/>
                </a:rPr>
                <a:t>gestión</a:t>
              </a:r>
              <a:r>
                <a:rPr lang="en-US">
                  <a:ea typeface="+mn-lt"/>
                  <a:cs typeface="+mn-lt"/>
                </a:rPr>
                <a:t> de </a:t>
              </a:r>
              <a:r>
                <a:rPr lang="en-US" err="1">
                  <a:ea typeface="+mn-lt"/>
                  <a:cs typeface="+mn-lt"/>
                </a:rPr>
                <a:t>inventario</a:t>
              </a:r>
              <a:r>
                <a:rPr lang="en-US">
                  <a:ea typeface="+mn-lt"/>
                  <a:cs typeface="+mn-lt"/>
                </a:rPr>
                <a:t> y control </a:t>
              </a:r>
              <a:r>
                <a:rPr lang="en-US" err="1">
                  <a:ea typeface="+mn-lt"/>
                  <a:cs typeface="+mn-lt"/>
                </a:rPr>
                <a:t>operativo</a:t>
              </a:r>
              <a:r>
                <a:rPr lang="en-US">
                  <a:ea typeface="+mn-lt"/>
                  <a:cs typeface="+mn-lt"/>
                </a:rPr>
                <a:t>.</a:t>
              </a:r>
              <a:endParaRPr lang="en-US"/>
            </a:p>
            <a:p>
              <a:endParaRPr lang="en-US">
                <a:cs typeface="Times New Roman"/>
              </a:endParaRPr>
            </a:p>
            <a:p>
              <a:endParaRPr lang="en-US">
                <a:cs typeface="Times New Roman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ECDB63-D32F-3070-639A-2716D32A956D}"/>
              </a:ext>
            </a:extLst>
          </p:cNvPr>
          <p:cNvGrpSpPr/>
          <p:nvPr/>
        </p:nvGrpSpPr>
        <p:grpSpPr>
          <a:xfrm>
            <a:off x="6212314" y="2014188"/>
            <a:ext cx="2377560" cy="4340902"/>
            <a:chOff x="6212314" y="2014188"/>
            <a:chExt cx="2377560" cy="434090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9841DDE-9F20-12B1-7693-135D7740D646}"/>
                </a:ext>
              </a:extLst>
            </p:cNvPr>
            <p:cNvSpPr/>
            <p:nvPr/>
          </p:nvSpPr>
          <p:spPr>
            <a:xfrm>
              <a:off x="6212314" y="2014188"/>
              <a:ext cx="2374832" cy="434090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Times New Roman"/>
              </a:endParaRPr>
            </a:p>
            <a:p>
              <a:pPr algn="ctr"/>
              <a:endParaRPr lang="en-US">
                <a:cs typeface="Times New Roman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7A96AC-7CA9-3879-AE4A-D1F9E38B4144}"/>
                </a:ext>
              </a:extLst>
            </p:cNvPr>
            <p:cNvSpPr txBox="1"/>
            <p:nvPr/>
          </p:nvSpPr>
          <p:spPr>
            <a:xfrm>
              <a:off x="6272497" y="2305422"/>
              <a:ext cx="2317377" cy="313932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err="1">
                  <a:cs typeface="Times New Roman"/>
                </a:rPr>
                <a:t>Objetivo</a:t>
              </a:r>
              <a:r>
                <a:rPr lang="en-US">
                  <a:cs typeface="Times New Roman"/>
                </a:rPr>
                <a:t>: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>
                  <a:ea typeface="+mn-lt"/>
                  <a:cs typeface="+mn-lt"/>
                </a:rPr>
                <a:t>Digitalizar y centralizar la administración de inventario, mejorando la eficiencia y el control de las operaciones.</a:t>
              </a:r>
              <a:endParaRPr lang="en-US"/>
            </a:p>
            <a:p>
              <a:endParaRPr lang="en-US">
                <a:cs typeface="Times New Roman"/>
              </a:endParaRPr>
            </a:p>
            <a:p>
              <a:endParaRPr lang="en-US"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904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3575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67A3FB8D-7B1E-22D0-927F-75ACC3F4C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31" y="100017"/>
            <a:ext cx="8320691" cy="607135"/>
          </a:xfrm>
        </p:spPr>
        <p:txBody>
          <a:bodyPr>
            <a:normAutofit/>
          </a:bodyPr>
          <a:lstStyle/>
          <a:p>
            <a:pPr algn="l"/>
            <a:r>
              <a:rPr lang="es-CL" sz="2600">
                <a:latin typeface="+mj-lt"/>
              </a:rPr>
              <a:t>2. </a:t>
            </a:r>
            <a:r>
              <a:rPr lang="es-CL" sz="2600" kern="1200" noProof="0">
                <a:latin typeface="+mj-lt"/>
              </a:rPr>
              <a:t>ALCANCE DEL INCREMENTO 1</a:t>
            </a:r>
            <a:endParaRPr lang="es-CL" sz="2600" kern="1200" noProof="0">
              <a:latin typeface="+mj-lt"/>
              <a:cs typeface="Times New Roman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E5C52A5-07C4-488E-A314-59363C768D0C}"/>
              </a:ext>
            </a:extLst>
          </p:cNvPr>
          <p:cNvSpPr/>
          <p:nvPr/>
        </p:nvSpPr>
        <p:spPr>
          <a:xfrm>
            <a:off x="508321" y="1188652"/>
            <a:ext cx="1945710" cy="1040268"/>
          </a:xfrm>
          <a:prstGeom prst="roundRect">
            <a:avLst/>
          </a:prstGeom>
          <a:solidFill>
            <a:srgbClr val="B545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pPr algn="ctr"/>
            <a:r>
              <a:rPr lang="es-MX" sz="3000" b="1">
                <a:solidFill>
                  <a:srgbClr val="FFFFFF"/>
                </a:solidFill>
                <a:cs typeface="Times New Roman"/>
              </a:rPr>
              <a:t>33%</a:t>
            </a:r>
          </a:p>
          <a:p>
            <a:pPr algn="ctr"/>
            <a:r>
              <a:rPr lang="es-MX" sz="800" b="1">
                <a:solidFill>
                  <a:srgbClr val="FFFFFF"/>
                </a:solidFill>
                <a:cs typeface="Times New Roman"/>
              </a:rPr>
              <a:t>Total de los requerimientos funcionales</a:t>
            </a:r>
          </a:p>
        </p:txBody>
      </p:sp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0583CE-F595-B65D-7970-9676C0E0CD65}"/>
              </a:ext>
            </a:extLst>
          </p:cNvPr>
          <p:cNvSpPr txBox="1"/>
          <p:nvPr/>
        </p:nvSpPr>
        <p:spPr>
          <a:xfrm>
            <a:off x="289169" y="3200481"/>
            <a:ext cx="4118709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1.1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Autenticación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por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correo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y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contraseña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2.1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Unidades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de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medida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personalizadas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2.3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Ubicaciones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jerárquicas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de bodega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3.2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Asociación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producto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–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lote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–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proveedor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4.1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Validación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de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fecha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de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vencimiento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4.3	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Salidas de stock</a:t>
            </a:r>
            <a:endParaRPr lang="en-US" sz="1300"/>
          </a:p>
          <a:p>
            <a:pPr algn="l"/>
            <a:endParaRPr lang="en-US">
              <a:cs typeface="Times New Roman"/>
            </a:endParaRPr>
          </a:p>
        </p:txBody>
      </p:sp>
      <p:sp>
        <p:nvSpPr>
          <p:cNvPr id="11" name="Rectángulo: esquinas redondeadas 7">
            <a:extLst>
              <a:ext uri="{FF2B5EF4-FFF2-40B4-BE49-F238E27FC236}">
                <a16:creationId xmlns:a16="http://schemas.microsoft.com/office/drawing/2014/main" id="{7E39435E-35FF-CBB0-4D94-C8C8A61A6C31}"/>
              </a:ext>
            </a:extLst>
          </p:cNvPr>
          <p:cNvSpPr/>
          <p:nvPr/>
        </p:nvSpPr>
        <p:spPr>
          <a:xfrm>
            <a:off x="2575490" y="1188652"/>
            <a:ext cx="1945710" cy="1040268"/>
          </a:xfrm>
          <a:prstGeom prst="roundRect">
            <a:avLst/>
          </a:prstGeom>
          <a:solidFill>
            <a:srgbClr val="B545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pPr algn="ctr"/>
            <a:r>
              <a:rPr lang="es-MX" sz="3000" b="1">
                <a:solidFill>
                  <a:srgbClr val="FFFFFF"/>
                </a:solidFill>
                <a:cs typeface="Times New Roman"/>
              </a:rPr>
              <a:t>11</a:t>
            </a:r>
          </a:p>
          <a:p>
            <a:pPr algn="ctr"/>
            <a:r>
              <a:rPr lang="es-MX" sz="800" b="1">
                <a:solidFill>
                  <a:srgbClr val="FFFFFF"/>
                </a:solidFill>
                <a:cs typeface="Times New Roman"/>
              </a:rPr>
              <a:t>URs implementadas</a:t>
            </a:r>
          </a:p>
        </p:txBody>
      </p:sp>
      <p:sp>
        <p:nvSpPr>
          <p:cNvPr id="15" name="Rectángulo: esquinas redondeadas 7">
            <a:extLst>
              <a:ext uri="{FF2B5EF4-FFF2-40B4-BE49-F238E27FC236}">
                <a16:creationId xmlns:a16="http://schemas.microsoft.com/office/drawing/2014/main" id="{8CD3DD7E-837E-E68F-50C3-18FB8A7F3C45}"/>
              </a:ext>
            </a:extLst>
          </p:cNvPr>
          <p:cNvSpPr/>
          <p:nvPr/>
        </p:nvSpPr>
        <p:spPr>
          <a:xfrm>
            <a:off x="4642659" y="1188652"/>
            <a:ext cx="1945710" cy="1040268"/>
          </a:xfrm>
          <a:prstGeom prst="roundRect">
            <a:avLst/>
          </a:prstGeom>
          <a:solidFill>
            <a:srgbClr val="B545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pPr algn="ctr"/>
            <a:r>
              <a:rPr lang="es-MX" sz="3000" b="1">
                <a:solidFill>
                  <a:srgbClr val="FFFFFF"/>
                </a:solidFill>
                <a:cs typeface="Times New Roman"/>
              </a:rPr>
              <a:t>12</a:t>
            </a:r>
          </a:p>
          <a:p>
            <a:pPr algn="ctr"/>
            <a:r>
              <a:rPr lang="es-MX" sz="800" b="1" err="1">
                <a:solidFill>
                  <a:srgbClr val="FFFFFF"/>
                </a:solidFill>
                <a:cs typeface="Times New Roman"/>
              </a:rPr>
              <a:t>CUs</a:t>
            </a:r>
            <a:r>
              <a:rPr lang="es-MX" sz="800" b="1">
                <a:solidFill>
                  <a:srgbClr val="FFFFFF"/>
                </a:solidFill>
                <a:cs typeface="Times New Roman"/>
              </a:rPr>
              <a:t> representativos del flujo</a:t>
            </a:r>
          </a:p>
        </p:txBody>
      </p:sp>
      <p:sp>
        <p:nvSpPr>
          <p:cNvPr id="17" name="Rectángulo: esquinas redondeadas 7">
            <a:extLst>
              <a:ext uri="{FF2B5EF4-FFF2-40B4-BE49-F238E27FC236}">
                <a16:creationId xmlns:a16="http://schemas.microsoft.com/office/drawing/2014/main" id="{446B9067-AF44-ED94-85F9-02B65D8D4601}"/>
              </a:ext>
            </a:extLst>
          </p:cNvPr>
          <p:cNvSpPr/>
          <p:nvPr/>
        </p:nvSpPr>
        <p:spPr>
          <a:xfrm>
            <a:off x="6709828" y="1188652"/>
            <a:ext cx="1945710" cy="1040268"/>
          </a:xfrm>
          <a:prstGeom prst="roundRect">
            <a:avLst/>
          </a:prstGeom>
          <a:solidFill>
            <a:srgbClr val="B545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pPr algn="ctr"/>
            <a:r>
              <a:rPr lang="es-MX" sz="3000" b="1">
                <a:solidFill>
                  <a:srgbClr val="FFFFFF"/>
                </a:solidFill>
                <a:cs typeface="Times New Roman"/>
              </a:rPr>
              <a:t>12/0</a:t>
            </a:r>
          </a:p>
          <a:p>
            <a:pPr algn="ctr"/>
            <a:r>
              <a:rPr lang="es-MX" sz="800" b="1">
                <a:solidFill>
                  <a:srgbClr val="FFFFFF"/>
                </a:solidFill>
                <a:cs typeface="Times New Roman"/>
              </a:rPr>
              <a:t>Pruebas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AAE67-0255-6B90-49BC-687FFC406301}"/>
              </a:ext>
            </a:extLst>
          </p:cNvPr>
          <p:cNvSpPr txBox="1"/>
          <p:nvPr/>
        </p:nvSpPr>
        <p:spPr>
          <a:xfrm>
            <a:off x="2865357" y="2796969"/>
            <a:ext cx="308504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err="1">
                <a:cs typeface="Times New Roman"/>
              </a:rPr>
              <a:t>Requerimientos</a:t>
            </a:r>
            <a:r>
              <a:rPr lang="en-US" sz="1400" b="1">
                <a:cs typeface="Times New Roman"/>
              </a:rPr>
              <a:t> de </a:t>
            </a:r>
            <a:r>
              <a:rPr lang="en-US" sz="1400" b="1" err="1">
                <a:cs typeface="Times New Roman"/>
              </a:rPr>
              <a:t>usuario</a:t>
            </a:r>
            <a:r>
              <a:rPr lang="en-US" sz="1400" b="1">
                <a:cs typeface="Times New Roman"/>
              </a:rPr>
              <a:t> </a:t>
            </a:r>
            <a:r>
              <a:rPr lang="en-US" sz="1400" b="1" err="1">
                <a:cs typeface="Times New Roman"/>
              </a:rPr>
              <a:t>abordados</a:t>
            </a:r>
            <a:endParaRPr lang="en-US" sz="1400" b="1"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C9C9B9-AD3E-6D2D-1080-CDCA7CB4FEA9}"/>
              </a:ext>
            </a:extLst>
          </p:cNvPr>
          <p:cNvSpPr txBox="1"/>
          <p:nvPr/>
        </p:nvSpPr>
        <p:spPr>
          <a:xfrm>
            <a:off x="4517292" y="3200482"/>
            <a:ext cx="4138246" cy="18697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1.2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Perfiles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de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acceso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por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rol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2.2	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Registro de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proveedores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sin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duplicidad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3.1	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Registro de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productos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perecibles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3.3	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Lotes con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fechas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y 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cantidad</a:t>
            </a:r>
            <a:endParaRPr lang="en-US" sz="130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300" b="1">
                <a:solidFill>
                  <a:srgbClr val="8AB4E8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UR 4.2	</a:t>
            </a:r>
            <a:r>
              <a:rPr lang="en-US" sz="1300" err="1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Ingresos</a:t>
            </a:r>
            <a:r>
              <a:rPr lang="en-US" sz="1300">
                <a:solidFill>
                  <a:srgbClr val="DDDDDD"/>
                </a:solidFill>
                <a:highlight>
                  <a:srgbClr val="3A3A3A"/>
                </a:highlight>
                <a:latin typeface="Open Sans"/>
                <a:ea typeface="Open Sans"/>
                <a:cs typeface="Open Sans"/>
              </a:rPr>
              <a:t> de stock</a:t>
            </a:r>
            <a:endParaRPr lang="en-US" sz="1300">
              <a:cs typeface="Times New Roman"/>
            </a:endParaRPr>
          </a:p>
          <a:p>
            <a:pPr algn="l"/>
            <a:endParaRPr lang="en-US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537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33AF6-28C8-0432-0CD5-0C49C203E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202E8120-CDCA-1342-0AD8-3604832E97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3575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C033F50-0002-811E-8569-80CAFC269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2A273D5-175C-6B43-3FB6-C6E22F359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31" y="100017"/>
            <a:ext cx="8320691" cy="607135"/>
          </a:xfrm>
        </p:spPr>
        <p:txBody>
          <a:bodyPr>
            <a:normAutofit/>
          </a:bodyPr>
          <a:lstStyle/>
          <a:p>
            <a:pPr algn="l"/>
            <a:r>
              <a:rPr lang="es-CL" sz="2600">
                <a:latin typeface="+mj-lt"/>
              </a:rPr>
              <a:t>3. </a:t>
            </a:r>
            <a:r>
              <a:rPr lang="es-CL" sz="2600" kern="1200" noProof="0">
                <a:latin typeface="+mj-lt"/>
              </a:rPr>
              <a:t>PROPUESTA DE SOLUCIÓN Y ARQUITECTURA</a:t>
            </a:r>
            <a:endParaRPr lang="es-CL" sz="2600" kern="1200" noProof="0">
              <a:latin typeface="+mj-lt"/>
              <a:cs typeface="Times New Roman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599E6F9-B904-381B-E83F-4DC5FA49B75F}"/>
              </a:ext>
            </a:extLst>
          </p:cNvPr>
          <p:cNvSpPr/>
          <p:nvPr/>
        </p:nvSpPr>
        <p:spPr>
          <a:xfrm>
            <a:off x="196243" y="1213889"/>
            <a:ext cx="4198306" cy="439804"/>
          </a:xfrm>
          <a:prstGeom prst="roundRect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r>
              <a:rPr lang="es-CL" sz="1200" b="1">
                <a:solidFill>
                  <a:srgbClr val="FFFFFF"/>
                </a:solidFill>
              </a:rPr>
              <a:t>VISTA FÍSICA
HTML · CSS · JavaScript</a:t>
            </a:r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1FC30AF-4EF3-BE4D-05B8-63B1C6A33DB3}"/>
              </a:ext>
            </a:extLst>
          </p:cNvPr>
          <p:cNvSpPr/>
          <p:nvPr/>
        </p:nvSpPr>
        <p:spPr>
          <a:xfrm>
            <a:off x="2472847" y="1946229"/>
            <a:ext cx="4187868" cy="46068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VISTA LÓGICA
Node.js + Express · REST</a:t>
            </a:r>
            <a:endParaRPr lang="es-CL" sz="1200" b="1">
              <a:solidFill>
                <a:srgbClr val="FFFFFF"/>
              </a:solidFill>
              <a:cs typeface="Times New Roman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2E00B6-AA0B-418E-5E31-F2209B9A9169}"/>
              </a:ext>
            </a:extLst>
          </p:cNvPr>
          <p:cNvSpPr/>
          <p:nvPr/>
        </p:nvSpPr>
        <p:spPr>
          <a:xfrm>
            <a:off x="4582438" y="2671672"/>
            <a:ext cx="4187868" cy="460680"/>
          </a:xfrm>
          <a:prstGeom prst="roundRect">
            <a:avLst/>
          </a:prstGeom>
          <a:solidFill>
            <a:srgbClr val="5482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CL" sz="1200" b="1">
                <a:solidFill>
                  <a:srgbClr val="FFFFFF"/>
                </a:solidFill>
              </a:rPr>
              <a:t>BASE DE DATOS
PostgreSQL</a:t>
            </a:r>
          </a:p>
        </p:txBody>
      </p:sp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A5C310D1-984A-FDF2-7B57-B2828DE82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3" name="Rectángulo: esquinas redondeadas 5">
            <a:extLst>
              <a:ext uri="{FF2B5EF4-FFF2-40B4-BE49-F238E27FC236}">
                <a16:creationId xmlns:a16="http://schemas.microsoft.com/office/drawing/2014/main" id="{9A494D21-AFB9-5FAD-3E08-0794E1C21942}"/>
              </a:ext>
            </a:extLst>
          </p:cNvPr>
          <p:cNvSpPr/>
          <p:nvPr/>
        </p:nvSpPr>
        <p:spPr>
          <a:xfrm>
            <a:off x="1684256" y="3945661"/>
            <a:ext cx="5765049" cy="154538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MX" sz="1400">
                <a:solidFill>
                  <a:srgbClr val="FFFFFF"/>
                </a:solidFill>
              </a:rPr>
              <a:t>Criterio de selección
Base mínima para operar de forma segura y controlar el inventario inicial de productos y lotes.
Todos en estado: Implementado</a:t>
            </a:r>
            <a:endParaRPr lang="es-CL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899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89543B-785C-DB42-1DFF-4131A11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" y="-2840"/>
            <a:ext cx="9140486" cy="803731"/>
          </a:xfrm>
        </p:spPr>
        <p:txBody>
          <a:bodyPr>
            <a:normAutofit/>
          </a:bodyPr>
          <a:lstStyle/>
          <a:p>
            <a:r>
              <a:rPr lang="es-CL" sz="2600"/>
              <a:t>3.1 VISTA DE DESARROLLO — Diagrama de Componentes</a:t>
            </a:r>
            <a:endParaRPr lang="es-CL" sz="2600">
              <a:cs typeface="Times New Roman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305D95D-7604-A1AF-CB26-FB68454F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6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62E39F-414E-4133-9724-722817291561}"/>
              </a:ext>
            </a:extLst>
          </p:cNvPr>
          <p:cNvSpPr txBox="1"/>
          <p:nvPr/>
        </p:nvSpPr>
        <p:spPr>
          <a:xfrm>
            <a:off x="0" y="6538913"/>
            <a:ext cx="5715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L" sz="1200" i="1">
                <a:solidFill>
                  <a:srgbClr val="FFFFFF"/>
                </a:solidFill>
              </a:rPr>
              <a:t>Vista de desarrollo · Figura 5.4.1 — Diagrama de Componentes · Incremento 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FB892D-89F5-AF7F-0A2F-7FCA645F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2" y="1922586"/>
            <a:ext cx="9033044" cy="2786884"/>
          </a:xfrm>
          <a:prstGeom prst="rect">
            <a:avLst/>
          </a:prstGeom>
        </p:spPr>
      </p:pic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8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EAF2C-0F13-F3DC-FED6-38CFFE39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pied Picture 8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3575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3F33B4D-00C9-1F9B-E0DC-4B868620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47" y="549"/>
            <a:ext cx="8321687" cy="807281"/>
          </a:xfrm>
        </p:spPr>
        <p:txBody>
          <a:bodyPr>
            <a:normAutofit/>
          </a:bodyPr>
          <a:lstStyle/>
          <a:p>
            <a:r>
              <a:rPr lang="es-CL" sz="2600"/>
              <a:t>3.2 VISTA LÓGICA — Modelo Físico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6C4C9BB-AEC0-0C8E-DA02-8B73D973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7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CF74C8-FB73-13EC-E509-B53CB159E4FF}"/>
              </a:ext>
            </a:extLst>
          </p:cNvPr>
          <p:cNvSpPr txBox="1"/>
          <p:nvPr/>
        </p:nvSpPr>
        <p:spPr>
          <a:xfrm>
            <a:off x="0" y="6538913"/>
            <a:ext cx="5715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L" sz="1200" i="1">
                <a:solidFill>
                  <a:srgbClr val="FFFFFF"/>
                </a:solidFill>
              </a:rPr>
              <a:t>Vista lógica · Modelo Físico · Figura 5.1.3 del documento de Incremento 1</a:t>
            </a:r>
          </a:p>
        </p:txBody>
      </p:sp>
      <p:pic>
        <p:nvPicPr>
          <p:cNvPr id="9" name="Copied Picture 9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E6B755-38F9-2083-CA93-B20B8B28E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38" y="863938"/>
            <a:ext cx="7416800" cy="567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9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89543B-785C-DB42-1DFF-4131A11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364" y="-1137"/>
            <a:ext cx="8336604" cy="802703"/>
          </a:xfrm>
        </p:spPr>
        <p:txBody>
          <a:bodyPr>
            <a:normAutofit/>
          </a:bodyPr>
          <a:lstStyle/>
          <a:p>
            <a:r>
              <a:rPr lang="es-CL" sz="2600"/>
              <a:t>3.3 VISTA LÓGICA — Diagrama de Clases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305D95D-7604-A1AF-CB26-FB68454F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8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62E39F-414E-4133-9724-722817291561}"/>
              </a:ext>
            </a:extLst>
          </p:cNvPr>
          <p:cNvSpPr txBox="1"/>
          <p:nvPr/>
        </p:nvSpPr>
        <p:spPr>
          <a:xfrm>
            <a:off x="0" y="6538913"/>
            <a:ext cx="5715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L" sz="1200" i="1">
                <a:solidFill>
                  <a:srgbClr val="FFFFFF"/>
                </a:solidFill>
              </a:rPr>
              <a:t>Vista lógica · Modelo Philippe Kruchten · Figura 5.1 del documento de Incremento 1</a:t>
            </a:r>
          </a:p>
        </p:txBody>
      </p:sp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8103249-A18B-3255-2404-7195ED76E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92" y="1003102"/>
            <a:ext cx="7962616" cy="535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631A4-2EC7-CE5A-D91D-8ED59EC9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D792BF3A-CAED-8D6A-DAEC-984CD82D02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85D9DD0-3FCB-321B-C02D-C05D5588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364" y="-1137"/>
            <a:ext cx="8336604" cy="802703"/>
          </a:xfrm>
        </p:spPr>
        <p:txBody>
          <a:bodyPr>
            <a:normAutofit/>
          </a:bodyPr>
          <a:lstStyle/>
          <a:p>
            <a:r>
              <a:rPr lang="es-CL" sz="2600"/>
              <a:t>3.4 ÁRBOL DE NAVEGACIÓN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BE07CE3-CA93-9D76-3C1B-BCA041E3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9</a:t>
            </a:fld>
            <a:endParaRPr lang="es-ES_tradnl"/>
          </a:p>
        </p:txBody>
      </p:sp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FC6A62BE-8293-5110-67F3-9F73F6E1C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0419C-A729-5E74-5FA0-FC023ACF9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40221"/>
            <a:ext cx="9144000" cy="337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69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BCE06-54E5-4038-B1AB-2B6BC7E2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C9B1DDD9-BCF0-95BA-9163-23380250D8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0C38D2-4641-E15A-C14F-C8AC6D21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" y="-2840"/>
            <a:ext cx="9140486" cy="803731"/>
          </a:xfrm>
        </p:spPr>
        <p:txBody>
          <a:bodyPr>
            <a:normAutofit/>
          </a:bodyPr>
          <a:lstStyle/>
          <a:p>
            <a:r>
              <a:rPr lang="es-CL" sz="2600"/>
              <a:t>4.1 TRAZABILIDAD UR 2.2</a:t>
            </a:r>
            <a:endParaRPr lang="es-CL" sz="2600">
              <a:cs typeface="Times New Roman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E038C9-5983-8A99-B2D4-527153FB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10</a:t>
            </a:fld>
            <a:endParaRPr lang="es-ES_tradnl"/>
          </a:p>
        </p:txBody>
      </p:sp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082F3CC5-5CC4-DDAB-CF52-C74C247A5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CB4863F-9AEB-C9D2-B1D1-7C7B64C71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79563"/>
              </p:ext>
            </p:extLst>
          </p:nvPr>
        </p:nvGraphicFramePr>
        <p:xfrm>
          <a:off x="375478" y="1811130"/>
          <a:ext cx="8625860" cy="44073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10687">
                  <a:extLst>
                    <a:ext uri="{9D8B030D-6E8A-4147-A177-3AD203B41FA5}">
                      <a16:colId xmlns:a16="http://schemas.microsoft.com/office/drawing/2014/main" val="964607096"/>
                    </a:ext>
                  </a:extLst>
                </a:gridCol>
                <a:gridCol w="4915173">
                  <a:extLst>
                    <a:ext uri="{9D8B030D-6E8A-4147-A177-3AD203B41FA5}">
                      <a16:colId xmlns:a16="http://schemas.microsoft.com/office/drawing/2014/main" val="158666422"/>
                    </a:ext>
                  </a:extLst>
                </a:gridCol>
              </a:tblGrid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Caso de Uso </a:t>
                      </a:r>
                      <a:r>
                        <a:rPr lang="es-ES" sz="1100" b="1" i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N°</a:t>
                      </a: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5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endParaRPr lang="es-ES" b="0" i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Registrando Proveedor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289210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Actores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Administrador, Operador de inventario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42045"/>
                  </a:ext>
                </a:extLst>
              </a:tr>
              <a:tr h="377723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Propósito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Registrar proveedores con sus datos de identificación, contacto y condiciones comerciales.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00446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Precondiciones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El usuario debe estar autorizado y no debe existir otro proveedor con el mismo RUT.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065163"/>
                  </a:ext>
                </a:extLst>
              </a:tr>
              <a:tr h="47770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Resumen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El usuario ingresa la información del proveedor y el sistema verifica obligatoriedad de campos, formato y unicidad del RUT antes de almacenar el registro.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0538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Postcondiciones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El proveedor queda disponible para su asociación con productos y lotes.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685435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Tipos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Primario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988678"/>
                  </a:ext>
                </a:extLst>
              </a:tr>
              <a:tr h="233299">
                <a:tc gridSpan="2"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Curso normal de eventos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endParaRPr lang="es-ES" b="0" i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999158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Acción de actores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endParaRPr lang="es-ES" b="0" i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E020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0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Respuesta del Sistema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endParaRPr lang="es-ES" b="0" i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E020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0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56298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1. Acceder al módulo de proveedores.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2. Mostrar listado de proveedores existentes.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291596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3. Seleccionar la opción “Nuevo proveedor”.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4. Desplegar formulario de proveedor.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111783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5. Ingresar identificación, contacto y condiciones comerciales.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6.1 Validar campos obligatorios y formato del RUT/correo.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975582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endParaRPr lang="es-ES" sz="1100" b="0" i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6.2 Verificar que el RUT no esté duplicado.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98822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/>
                        </a:rPr>
                        <a:t>  </a:t>
                      </a:r>
                      <a:endParaRPr lang="es-ES" b="0" i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6.3 Guardar el proveedor.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72525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7. Confirmar la creación del registro. 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8. Actualizar el listado y mostrar mensaje de éxito.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145471"/>
                  </a:ext>
                </a:extLst>
              </a:tr>
            </a:tbl>
          </a:graphicData>
        </a:graphic>
      </p:graphicFrame>
      <p:sp>
        <p:nvSpPr>
          <p:cNvPr id="6" name="TextBox 9">
            <a:extLst>
              <a:ext uri="{FF2B5EF4-FFF2-40B4-BE49-F238E27FC236}">
                <a16:creationId xmlns:a16="http://schemas.microsoft.com/office/drawing/2014/main" id="{A581567E-70CC-1467-CC81-981F232A6683}"/>
              </a:ext>
            </a:extLst>
          </p:cNvPr>
          <p:cNvSpPr txBox="1"/>
          <p:nvPr/>
        </p:nvSpPr>
        <p:spPr>
          <a:xfrm>
            <a:off x="219023" y="1075873"/>
            <a:ext cx="8707131" cy="86177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cs typeface="Times New Roman"/>
              </a:rPr>
              <a:t>RF4: </a:t>
            </a:r>
            <a:r>
              <a:rPr lang="es" sz="1600">
                <a:ea typeface="+mn-lt"/>
                <a:cs typeface="+mn-lt"/>
              </a:rPr>
              <a:t>El sistema debe permitir registrar proveedores de insumos y productos, incluyendo datos de identificación, contacto y condiciones comerciales, evitando duplicidad de registros. </a:t>
            </a:r>
            <a:endParaRPr lang="en-US" sz="1600">
              <a:cs typeface="Times New Roman"/>
            </a:endParaRPr>
          </a:p>
          <a:p>
            <a:endParaRPr lang="en-US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5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1BAC-3B12-3C2C-85EA-FE780619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pied Picture 7" descr="SD&#10;">
            <a:extLst>
              <a:ext uri="{FF2B5EF4-FFF2-40B4-BE49-F238E27FC236}">
                <a16:creationId xmlns:a16="http://schemas.microsoft.com/office/drawing/2014/main" id="{B2F314AD-4AD7-6CF2-CF81-4242D16663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9BF4F80-43BC-594B-E879-411E25B10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" y="-384"/>
            <a:ext cx="7979250" cy="807281"/>
          </a:xfrm>
        </p:spPr>
        <p:txBody>
          <a:bodyPr>
            <a:normAutofit/>
          </a:bodyPr>
          <a:lstStyle/>
          <a:p>
            <a:r>
              <a:rPr lang="es-ES" sz="2600">
                <a:cs typeface="Times New Roman"/>
              </a:rPr>
              <a:t>4.2 TRAZABILIDAD UR 2.2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6EB5D0-EE87-9478-BC0C-079349FB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11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8" name="Copied Picture 8" descr="Icono&#10;&#10;El contenido generado por IA puede ser incorrecto.">
            <a:extLst>
              <a:ext uri="{FF2B5EF4-FFF2-40B4-BE49-F238E27FC236}">
                <a16:creationId xmlns:a16="http://schemas.microsoft.com/office/drawing/2014/main" id="{AFFD0575-D7D0-4BB9-503D-06D5087FF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F4EBB-77C5-E3ED-14F5-83D114A1C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66" y="5451905"/>
            <a:ext cx="8680758" cy="990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E62845-7E85-8B32-7D53-D07A8C275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21" y="1053639"/>
            <a:ext cx="8699758" cy="428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29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9AD99-2893-8C03-6232-CDF02B08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pied Picture 7" descr="SD&#10;">
            <a:extLst>
              <a:ext uri="{FF2B5EF4-FFF2-40B4-BE49-F238E27FC236}">
                <a16:creationId xmlns:a16="http://schemas.microsoft.com/office/drawing/2014/main" id="{3F6F7A87-A77F-CBAC-58DC-6CEB9A1F81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74EABEE-9A76-4600-DFCF-D89E9037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" y="-384"/>
            <a:ext cx="7979250" cy="807281"/>
          </a:xfrm>
        </p:spPr>
        <p:txBody>
          <a:bodyPr>
            <a:normAutofit/>
          </a:bodyPr>
          <a:lstStyle/>
          <a:p>
            <a:r>
              <a:rPr lang="es-ES" sz="2600">
                <a:cs typeface="Times New Roman"/>
              </a:rPr>
              <a:t>4.2 TRAZABILIDAD UR 2.2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3D7B37-A501-418F-C32C-6652C722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12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8" name="Copied Picture 8" descr="Icono&#10;&#10;El contenido generado por IA puede ser incorrecto.">
            <a:extLst>
              <a:ext uri="{FF2B5EF4-FFF2-40B4-BE49-F238E27FC236}">
                <a16:creationId xmlns:a16="http://schemas.microsoft.com/office/drawing/2014/main" id="{EF92C3A6-373E-3518-DE0B-1D086353D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16E8DE-AD86-B700-0C28-42826A9B2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66" y="5451905"/>
            <a:ext cx="8680758" cy="9903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B43B64-9EE1-CBEC-470F-BFB955646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11" y="1072149"/>
            <a:ext cx="8699758" cy="429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6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9543B-785C-DB42-1DFF-4131A11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" y="808503"/>
            <a:ext cx="9015816" cy="603669"/>
          </a:xfrm>
        </p:spPr>
        <p:txBody>
          <a:bodyPr>
            <a:normAutofit/>
          </a:bodyPr>
          <a:lstStyle/>
          <a:p>
            <a:r>
              <a:rPr lang="es-CL" sz="2600"/>
              <a:t>CU05: REGISTRANDO</a:t>
            </a:r>
            <a:r>
              <a:rPr lang="es-CL" sz="2600">
                <a:cs typeface="Times New Roman"/>
              </a:rPr>
              <a:t> PROVEEDOR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305D95D-7604-A1AF-CB26-FB68454F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13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62E39F-414E-4133-9724-722817291561}"/>
              </a:ext>
            </a:extLst>
          </p:cNvPr>
          <p:cNvSpPr txBox="1"/>
          <p:nvPr/>
        </p:nvSpPr>
        <p:spPr>
          <a:xfrm>
            <a:off x="0" y="6542168"/>
            <a:ext cx="5715000" cy="276999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s-CL" sz="1200" i="1">
                <a:solidFill>
                  <a:srgbClr val="FFFFFF"/>
                </a:solidFill>
              </a:rPr>
              <a:t>Vista de proceso · CU05 Registrando proveedor · UR 2.2 · Figura 5.2.5 del Incremento 1</a:t>
            </a:r>
          </a:p>
        </p:txBody>
      </p:sp>
      <p:pic>
        <p:nvPicPr>
          <p:cNvPr id="10" name="Copied Picture 10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11" name="Copied Picture 11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C57882-51C1-F79A-C29F-E6E967B98CCD}"/>
              </a:ext>
            </a:extLst>
          </p:cNvPr>
          <p:cNvSpPr txBox="1"/>
          <p:nvPr/>
        </p:nvSpPr>
        <p:spPr>
          <a:xfrm>
            <a:off x="-10288" y="146752"/>
            <a:ext cx="80055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Times New Roman"/>
              </a:rPr>
              <a:t>4.3 DIAGRAMA DE SECUENCIA UR 2.2</a:t>
            </a:r>
            <a:endParaRPr lang="en-US" sz="28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69F8DC-E4C0-290F-F9E4-B265366E4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1676400"/>
            <a:ext cx="62293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99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E9222-9067-B24E-9DB6-624DD341B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C5AD9AC-1842-3128-801A-0C42B7C7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14</a:t>
            </a:fld>
            <a:endParaRPr lang="es-ES_tradnl"/>
          </a:p>
        </p:txBody>
      </p:sp>
      <p:pic>
        <p:nvPicPr>
          <p:cNvPr id="10" name="Copied Picture 10" descr="SD&#10;">
            <a:extLst>
              <a:ext uri="{FF2B5EF4-FFF2-40B4-BE49-F238E27FC236}">
                <a16:creationId xmlns:a16="http://schemas.microsoft.com/office/drawing/2014/main" id="{0526AB8E-BC9C-F4AB-AEFB-50ADA4CC49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11" name="Copied Picture 11">
            <a:extLst>
              <a:ext uri="{FF2B5EF4-FFF2-40B4-BE49-F238E27FC236}">
                <a16:creationId xmlns:a16="http://schemas.microsoft.com/office/drawing/2014/main" id="{9C605003-306E-6CF4-8310-3485ED60F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6A22B0-37ED-E2CE-B537-B81B29F2BD07}"/>
              </a:ext>
            </a:extLst>
          </p:cNvPr>
          <p:cNvSpPr txBox="1"/>
          <p:nvPr/>
        </p:nvSpPr>
        <p:spPr>
          <a:xfrm>
            <a:off x="-10288" y="146752"/>
            <a:ext cx="80055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Times New Roman"/>
              </a:rPr>
              <a:t>5.1 TRAZABALIDAD UR 4.1</a:t>
            </a:r>
            <a:endParaRPr lang="en-US" sz="2800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AC6C091B-8DE8-C5D9-0443-07C689D67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50335"/>
              </p:ext>
            </p:extLst>
          </p:nvPr>
        </p:nvGraphicFramePr>
        <p:xfrm>
          <a:off x="309217" y="1822173"/>
          <a:ext cx="8517114" cy="43106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58557">
                  <a:extLst>
                    <a:ext uri="{9D8B030D-6E8A-4147-A177-3AD203B41FA5}">
                      <a16:colId xmlns:a16="http://schemas.microsoft.com/office/drawing/2014/main" val="1314853125"/>
                    </a:ext>
                  </a:extLst>
                </a:gridCol>
                <a:gridCol w="4258557">
                  <a:extLst>
                    <a:ext uri="{9D8B030D-6E8A-4147-A177-3AD203B41FA5}">
                      <a16:colId xmlns:a16="http://schemas.microsoft.com/office/drawing/2014/main" val="126375770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Caso de Uso N° 10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Validando Fechas de Lote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898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Actores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Sistema, Operador de inventario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3918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Propósito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Evitar el registro de lotes con fechas inconsistentes.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02586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Precondiciones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El usuario debe encontrarse registrando o editando un lote.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4406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Resumen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Durante el registro de un lote, el sistema compara la fecha de ingreso con la fecha de vencimiento y solo permite guardar si la segunda es posterior a la primera.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669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Postcondiciones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Los lotes quedan almacenados únicamente si cumplen la regla de coherencia temporal.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64325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Tipos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Primario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37406"/>
                  </a:ext>
                </a:extLst>
              </a:tr>
              <a:tr h="180975">
                <a:tc gridSpan="2"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Curso normal de eventos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80082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Acción de actores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E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Respuesta del Sistema</a:t>
                      </a: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10E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E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7198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1. Ingresar fecha de ingreso del lote.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2. Leer y almacenar temporalmente la fecha de ingreso.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7548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3. Ingresar fecha de vencimiento.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4. Comparar la fecha de vencimiento con la fecha de ingreso.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9707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5. Solicitar guardar el lote.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6.1 Permitir el guardado si la fecha es válida.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50985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 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6.2 Bloquear la operación si existe inconsistencia.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5490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 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66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100" b="0" i="0">
                          <a:effectLst/>
                          <a:latin typeface="Times New Roman" panose="02020603050405020304" pitchFamily="18" charset="0"/>
                        </a:rPr>
                        <a:t>6.3 Mostrar mensaje de validación al usuario.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29703"/>
                  </a:ext>
                </a:extLst>
              </a:tr>
            </a:tbl>
          </a:graphicData>
        </a:graphic>
      </p:graphicFrame>
      <p:sp>
        <p:nvSpPr>
          <p:cNvPr id="13" name="TextBox 10">
            <a:extLst>
              <a:ext uri="{FF2B5EF4-FFF2-40B4-BE49-F238E27FC236}">
                <a16:creationId xmlns:a16="http://schemas.microsoft.com/office/drawing/2014/main" id="{5BECF938-5551-3594-DD06-EBC221025559}"/>
              </a:ext>
            </a:extLst>
          </p:cNvPr>
          <p:cNvSpPr txBox="1"/>
          <p:nvPr/>
        </p:nvSpPr>
        <p:spPr>
          <a:xfrm>
            <a:off x="222027" y="857442"/>
            <a:ext cx="8813713" cy="86177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cs typeface="Times New Roman"/>
              </a:rPr>
              <a:t>RF14: </a:t>
            </a:r>
            <a:r>
              <a:rPr lang="es" sz="1600">
                <a:ea typeface="+mn-lt"/>
                <a:cs typeface="+mn-lt"/>
              </a:rPr>
              <a:t>El sistema debe validar que la fecha de vencimiento de un lote sea posterior a su fecha de ingreso, impidiendo el registro de lotes vencidos.</a:t>
            </a: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59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4A8B-9268-1836-AC36-61011681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pied Picture 7" descr="SD&#10;">
            <a:extLst>
              <a:ext uri="{FF2B5EF4-FFF2-40B4-BE49-F238E27FC236}">
                <a16:creationId xmlns:a16="http://schemas.microsoft.com/office/drawing/2014/main" id="{6E6A934D-8106-6387-6944-7F753DFB47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71438-39FA-0457-1ED6-3419BF11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2" y="3801"/>
            <a:ext cx="7983976" cy="802702"/>
          </a:xfrm>
        </p:spPr>
        <p:txBody>
          <a:bodyPr>
            <a:normAutofit/>
          </a:bodyPr>
          <a:lstStyle/>
          <a:p>
            <a:r>
              <a:rPr lang="es-ES" sz="2600">
                <a:cs typeface="Times New Roman"/>
              </a:rPr>
              <a:t>5.2 TRAZABILIDAD UR 4.1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41695B-A907-491A-D7F2-852593CB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15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8" name="Copied Picture 8" descr="Icono&#10;&#10;El contenido generado por IA puede ser incorrecto.">
            <a:extLst>
              <a:ext uri="{FF2B5EF4-FFF2-40B4-BE49-F238E27FC236}">
                <a16:creationId xmlns:a16="http://schemas.microsoft.com/office/drawing/2014/main" id="{917E0218-652A-9626-D330-9DBACD3A2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2C4442-DC51-F86F-A5A5-95BCBE05D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73" y="4730750"/>
            <a:ext cx="8730575" cy="15465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118A4-5932-5681-804D-4B39257416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4" r="-55" b="25536"/>
          <a:stretch>
            <a:fillRect/>
          </a:stretch>
        </p:blipFill>
        <p:spPr>
          <a:xfrm>
            <a:off x="219136" y="942579"/>
            <a:ext cx="8716772" cy="320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58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AE13-445F-3CAF-0735-B0975EA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pied Picture 7" descr="SD&#10;">
            <a:extLst>
              <a:ext uri="{FF2B5EF4-FFF2-40B4-BE49-F238E27FC236}">
                <a16:creationId xmlns:a16="http://schemas.microsoft.com/office/drawing/2014/main" id="{9A20C320-D87B-53C8-E1A0-4ED0940EAF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AF2FA13-BCC8-4852-51C8-9353D6F7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2" y="3801"/>
            <a:ext cx="7983976" cy="802702"/>
          </a:xfrm>
        </p:spPr>
        <p:txBody>
          <a:bodyPr>
            <a:normAutofit/>
          </a:bodyPr>
          <a:lstStyle/>
          <a:p>
            <a:r>
              <a:rPr lang="es-ES" sz="2600">
                <a:cs typeface="Times New Roman"/>
              </a:rPr>
              <a:t>5.2 TRAZABILIDAD UR 4.1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21C612-6088-5772-5451-B81E82B8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16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8" name="Copied Picture 8" descr="Icono&#10;&#10;El contenido generado por IA puede ser incorrecto.">
            <a:extLst>
              <a:ext uri="{FF2B5EF4-FFF2-40B4-BE49-F238E27FC236}">
                <a16:creationId xmlns:a16="http://schemas.microsoft.com/office/drawing/2014/main" id="{58231893-5B0F-B83A-AE9D-7CDF93578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4D9FB2-450B-9771-0DAD-D15C6C6D5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07" y="1423841"/>
            <a:ext cx="8570187" cy="4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81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9543B-785C-DB42-1DFF-4131A11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49" y="800642"/>
            <a:ext cx="7886700" cy="464843"/>
          </a:xfrm>
        </p:spPr>
        <p:txBody>
          <a:bodyPr>
            <a:normAutofit/>
          </a:bodyPr>
          <a:lstStyle/>
          <a:p>
            <a:r>
              <a:rPr lang="es-CL" sz="2600"/>
              <a:t>CU10 — VALIDANDO FECHAS DE LOTE</a:t>
            </a:r>
            <a:endParaRPr lang="es-CL" sz="2600">
              <a:cs typeface="Times New Roman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305D95D-7604-A1AF-CB26-FB68454F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17</a:t>
            </a:fld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62E39F-414E-4133-9724-722817291561}"/>
              </a:ext>
            </a:extLst>
          </p:cNvPr>
          <p:cNvSpPr txBox="1"/>
          <p:nvPr/>
        </p:nvSpPr>
        <p:spPr>
          <a:xfrm>
            <a:off x="0" y="6538913"/>
            <a:ext cx="5810738" cy="276999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r>
              <a:rPr lang="es-CL" sz="1200" i="1">
                <a:solidFill>
                  <a:srgbClr val="FFFFFF"/>
                </a:solidFill>
              </a:rPr>
              <a:t>Vista de proceso · CU10 Validando fechas de lote · UR 4.1 · Figura 5.2.10 del Incremento 1</a:t>
            </a:r>
          </a:p>
        </p:txBody>
      </p:sp>
      <p:pic>
        <p:nvPicPr>
          <p:cNvPr id="9" name="Copied Picture 9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4497" y="1"/>
            <a:ext cx="9172026" cy="802886"/>
          </a:xfrm>
          <a:prstGeom prst="rect">
            <a:avLst/>
          </a:prstGeom>
        </p:spPr>
      </p:pic>
      <p:pic>
        <p:nvPicPr>
          <p:cNvPr id="10" name="Copied Picture 10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8AD4530F-146D-DBC5-2292-A104F9DABC93}"/>
              </a:ext>
            </a:extLst>
          </p:cNvPr>
          <p:cNvSpPr txBox="1">
            <a:spLocks/>
          </p:cNvSpPr>
          <p:nvPr/>
        </p:nvSpPr>
        <p:spPr>
          <a:xfrm>
            <a:off x="-14885" y="-229"/>
            <a:ext cx="7979250" cy="80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FFFFFF"/>
                </a:solidFill>
                <a:latin typeface="Times New Roman"/>
                <a:ea typeface="+mj-ea"/>
                <a:cs typeface="+mj-cs"/>
              </a:defRPr>
            </a:lvl1pPr>
          </a:lstStyle>
          <a:p>
            <a:r>
              <a:rPr lang="es-CL" sz="2600"/>
              <a:t>5.3 DIAGRAMA DE SECUENCIA</a:t>
            </a:r>
            <a:endParaRPr lang="es-CL" sz="2600">
              <a:cs typeface="Times New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5FD498-A669-41B1-A7D6-28FF75DF4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1676400"/>
            <a:ext cx="62293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58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E3F2B-633F-AB05-DEB8-0D887B1B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pied Picture 11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7" name="Imagen 6" descr="SD&#10;">
            <a:extLst>
              <a:ext uri="{FF2B5EF4-FFF2-40B4-BE49-F238E27FC236}">
                <a16:creationId xmlns:a16="http://schemas.microsoft.com/office/drawing/2014/main" id="{2F23BE25-C0BF-DB9D-6EBA-A994E0542F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CCF7AD-AE8A-CB1A-E7B2-BA6FA830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02" y="1610"/>
            <a:ext cx="8324445" cy="802703"/>
          </a:xfrm>
        </p:spPr>
        <p:txBody>
          <a:bodyPr>
            <a:noAutofit/>
          </a:bodyPr>
          <a:lstStyle/>
          <a:p>
            <a:r>
              <a:rPr lang="es-CL" sz="2600">
                <a:ea typeface="+mj-lt"/>
                <a:cs typeface="+mj-lt"/>
              </a:rPr>
              <a:t>6</a:t>
            </a:r>
            <a:r>
              <a:rPr lang="es-CL" sz="2600" noProof="0">
                <a:ea typeface="+mj-lt"/>
                <a:cs typeface="+mj-lt"/>
              </a:rPr>
              <a:t>. TRAZA SCRUM++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F22A39-AFD2-9945-A395-2D3E60E6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CL" noProof="0" smtClean="0"/>
              <a:t>18</a:t>
            </a:fld>
            <a:endParaRPr lang="es-CL" noProof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CF17F6B-C7C6-48E8-BA13-B47CE4E8C6F2}"/>
              </a:ext>
            </a:extLst>
          </p:cNvPr>
          <p:cNvGraphicFramePr>
            <a:graphicFrameLocks noGrp="1"/>
          </p:cNvGraphicFramePr>
          <p:nvPr/>
        </p:nvGraphicFramePr>
        <p:xfrm>
          <a:off x="292100" y="1514432"/>
          <a:ext cx="8559800" cy="4423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512712237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3090007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822291024"/>
                    </a:ext>
                  </a:extLst>
                </a:gridCol>
              </a:tblGrid>
              <a:tr h="402165">
                <a:tc>
                  <a:txBody>
                    <a:bodyPr/>
                    <a:lstStyle/>
                    <a:p>
                      <a:r>
                        <a:rPr lang="es-CL" sz="1300" b="1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300" b="1">
                          <a:solidFill>
                            <a:schemeClr val="tx1"/>
                          </a:solidFill>
                        </a:rPr>
                        <a:t>Tarea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300" b="1">
                          <a:solidFill>
                            <a:schemeClr val="tx1"/>
                          </a:solidFill>
                        </a:rPr>
                        <a:t>Estado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68746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Diagrama de Clases y MERE (Vista Lógica)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038325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T-002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Módulo autenticación — UR 1.1 (CU01, CU02)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629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Perfiles de acceso por rol — UR 1.2 (CU03)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006754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T-004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Config. base: unidades, proveedores, ubicaciones (CU04-06)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3817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Registro de productos y asociación a proveedor (CU07-08)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673396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T-006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Lotes: registro y validación de fechas (CU09-10)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371149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Ingresos de stock con transacción (CU11)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677977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T-008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Salidas de stock: venta, merma, consumo (CU12)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ED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840624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Vista Desarrollo (Diagrama Componentes)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23787"/>
                  </a:ext>
                </a:extLst>
              </a:tr>
              <a:tr h="402165"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T-010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Pruebas funcionales P01-P12 (12 PASS · 0 FAIL)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>
                          <a:solidFill>
                            <a:srgbClr val="000000"/>
                          </a:solidFill>
                        </a:rPr>
                        <a:t>Terminado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962631"/>
                  </a:ext>
                </a:extLst>
              </a:tr>
            </a:tbl>
          </a:graphicData>
        </a:graphic>
      </p:graphicFrame>
      <p:pic>
        <p:nvPicPr>
          <p:cNvPr id="12" name="Copied Picture 12">
            <a:extLst>
              <a:ext uri="{FF2B5EF4-FFF2-40B4-BE49-F238E27FC236}">
                <a16:creationId xmlns:a16="http://schemas.microsoft.com/office/drawing/2014/main" id="{FF4A623A-0F49-6C95-444C-C955477A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98028-E688-5EBF-8C69-D02766620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67" y="1012202"/>
            <a:ext cx="2389081" cy="59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cs typeface="Times New Roman"/>
              </a:rPr>
              <a:t>Born Down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8F1B17-95F9-07D3-A4BB-53A278C2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19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7" name="Imagen 6" descr="SD&#10;">
            <a:extLst>
              <a:ext uri="{FF2B5EF4-FFF2-40B4-BE49-F238E27FC236}">
                <a16:creationId xmlns:a16="http://schemas.microsoft.com/office/drawing/2014/main" id="{700580BB-895B-A676-E06B-3F096AC348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9" name="Copied Picture 12">
            <a:extLst>
              <a:ext uri="{FF2B5EF4-FFF2-40B4-BE49-F238E27FC236}">
                <a16:creationId xmlns:a16="http://schemas.microsoft.com/office/drawing/2014/main" id="{AFEEE99A-2E2A-FFFC-FCF2-FD5B62357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35F7A28-BA1E-C251-5E88-98FB854ACAAB}"/>
              </a:ext>
            </a:extLst>
          </p:cNvPr>
          <p:cNvSpPr txBox="1"/>
          <p:nvPr/>
        </p:nvSpPr>
        <p:spPr>
          <a:xfrm>
            <a:off x="-14024" y="161282"/>
            <a:ext cx="537139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2600">
                <a:solidFill>
                  <a:srgbClr val="FFFFFF"/>
                </a:solidFill>
                <a:latin typeface="Times New Roman"/>
              </a:rPr>
              <a:t>7.</a:t>
            </a:r>
            <a:r>
              <a:rPr lang="es-CL" sz="2600" b="0" i="0" u="none" strike="noStrike" baseline="0">
                <a:solidFill>
                  <a:srgbClr val="FFFFFF"/>
                </a:solidFill>
                <a:latin typeface="Times New Roman"/>
              </a:rPr>
              <a:t> </a:t>
            </a:r>
            <a:r>
              <a:rPr lang="es-CL" sz="2600">
                <a:solidFill>
                  <a:srgbClr val="FFFFFF"/>
                </a:solidFill>
                <a:latin typeface="Times New Roman"/>
              </a:rPr>
              <a:t>GRAFICOS DE SEGUIMIENTOS</a:t>
            </a:r>
            <a:endParaRPr lang="es-ES" sz="2600">
              <a:solidFill>
                <a:srgbClr val="000000"/>
              </a:solidFill>
              <a:cs typeface="Times New Roman"/>
            </a:endParaRPr>
          </a:p>
          <a:p>
            <a:pPr algn="ctr"/>
            <a:endParaRPr lang="es-ES"/>
          </a:p>
        </p:txBody>
      </p:sp>
      <p:pic>
        <p:nvPicPr>
          <p:cNvPr id="13" name="Imagen 1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9B38FBD3-E7C5-F449-6BE9-D91D45DEC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14" y="2268264"/>
            <a:ext cx="6365973" cy="315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88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24C01-FDE6-1DB9-6F3D-E3FDB0ED2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67" y="1152447"/>
            <a:ext cx="2010418" cy="557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cs typeface="Times New Roman"/>
              </a:rPr>
              <a:t>Burn Up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959CA5-5A3F-B165-83BD-82219FA7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20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6" name="Imagen 5" descr="SD&#10;">
            <a:extLst>
              <a:ext uri="{FF2B5EF4-FFF2-40B4-BE49-F238E27FC236}">
                <a16:creationId xmlns:a16="http://schemas.microsoft.com/office/drawing/2014/main" id="{4BDD249F-1D8F-C2C6-ECBE-3B0926C4C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2316" y="1"/>
            <a:ext cx="9172026" cy="80288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48DABA5-FF2D-30C9-D28A-C96B5B779604}"/>
              </a:ext>
            </a:extLst>
          </p:cNvPr>
          <p:cNvSpPr txBox="1"/>
          <p:nvPr/>
        </p:nvSpPr>
        <p:spPr>
          <a:xfrm>
            <a:off x="1" y="189331"/>
            <a:ext cx="553969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2600">
                <a:solidFill>
                  <a:srgbClr val="FFFFFF"/>
                </a:solidFill>
                <a:latin typeface="Times New Roman"/>
              </a:rPr>
              <a:t>7.1</a:t>
            </a:r>
            <a:r>
              <a:rPr lang="es-CL" sz="2600" b="0" i="0" u="none" strike="noStrike" baseline="0">
                <a:solidFill>
                  <a:srgbClr val="FFFFFF"/>
                </a:solidFill>
                <a:latin typeface="Times New Roman"/>
              </a:rPr>
              <a:t> GRAFICOS DE SEGUIMIENTOS</a:t>
            </a:r>
            <a:r>
              <a:rPr sz="2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s-ES"/>
          </a:p>
          <a:p>
            <a:pPr algn="ctr"/>
            <a:endParaRPr lang="es-ES">
              <a:cs typeface="Times New Roman"/>
            </a:endParaRPr>
          </a:p>
        </p:txBody>
      </p:sp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17A0CB9-8F05-55C9-A396-7ECF3E946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92" y="2614554"/>
            <a:ext cx="7002236" cy="34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3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7E06BE-7644-6BEC-09AC-E1C3B1B5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6" y="1103361"/>
            <a:ext cx="2999148" cy="8311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cs typeface="Times New Roman"/>
              </a:rPr>
              <a:t>Tabla de esfuerzo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53FB79-E782-0FCE-C5BB-4F107653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>
                <a:solidFill>
                  <a:srgbClr val="FFFFFF"/>
                </a:solidFill>
              </a:rPr>
              <a:t>21</a:t>
            </a:fld>
            <a:endParaRPr lang="es-ES_tradnl">
              <a:solidFill>
                <a:srgbClr val="FFFFFF"/>
              </a:solidFill>
            </a:endParaRPr>
          </a:p>
        </p:txBody>
      </p:sp>
      <p:pic>
        <p:nvPicPr>
          <p:cNvPr id="6" name="Imagen 5" descr="SD&#10;">
            <a:extLst>
              <a:ext uri="{FF2B5EF4-FFF2-40B4-BE49-F238E27FC236}">
                <a16:creationId xmlns:a16="http://schemas.microsoft.com/office/drawing/2014/main" id="{0CCE715F-1E3B-28A8-732B-822528FBDE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2316" y="1"/>
            <a:ext cx="9172026" cy="80288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C3EC3AE-9B6A-CB02-2BF3-FEB7F8DDD8D9}"/>
              </a:ext>
            </a:extLst>
          </p:cNvPr>
          <p:cNvSpPr txBox="1"/>
          <p:nvPr/>
        </p:nvSpPr>
        <p:spPr>
          <a:xfrm>
            <a:off x="0" y="168294"/>
            <a:ext cx="586225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2600">
                <a:solidFill>
                  <a:srgbClr val="FFFFFF"/>
                </a:solidFill>
                <a:latin typeface="Times New Roman"/>
              </a:rPr>
              <a:t>7.2</a:t>
            </a:r>
            <a:r>
              <a:rPr lang="es-CL" sz="2600" b="0" i="0" u="none" strike="noStrike" baseline="0">
                <a:solidFill>
                  <a:srgbClr val="FFFFFF"/>
                </a:solidFill>
                <a:latin typeface="Times New Roman"/>
              </a:rPr>
              <a:t> GRAFICOS DE SEGUIMIENTOS</a:t>
            </a:r>
            <a:r>
              <a:rPr lang="es-ES" sz="26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2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s-ES"/>
          </a:p>
          <a:p>
            <a:pPr algn="ctr"/>
            <a:endParaRPr lang="es-ES"/>
          </a:p>
        </p:txBody>
      </p:sp>
      <p:pic>
        <p:nvPicPr>
          <p:cNvPr id="8" name="Imagen 7" descr="Tabla&#10;&#10;El contenido generado por IA puede ser incorrecto.">
            <a:extLst>
              <a:ext uri="{FF2B5EF4-FFF2-40B4-BE49-F238E27FC236}">
                <a16:creationId xmlns:a16="http://schemas.microsoft.com/office/drawing/2014/main" id="{D5318D87-F062-10CF-909C-BE50EB21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414" y="2349273"/>
            <a:ext cx="6659336" cy="269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6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593F2-BA18-0DBA-851F-B0AF64BA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B908046-52A9-3834-E3DA-44965A9CA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5"/>
            <a:ext cx="9144000" cy="6851309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254E035-2E71-79B5-2914-E28E0C653FB8}"/>
              </a:ext>
            </a:extLst>
          </p:cNvPr>
          <p:cNvCxnSpPr/>
          <p:nvPr/>
        </p:nvCxnSpPr>
        <p:spPr>
          <a:xfrm>
            <a:off x="492141" y="3591697"/>
            <a:ext cx="777864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1919555-275B-18CF-570E-EE552C821878}"/>
              </a:ext>
            </a:extLst>
          </p:cNvPr>
          <p:cNvCxnSpPr/>
          <p:nvPr/>
        </p:nvCxnSpPr>
        <p:spPr>
          <a:xfrm flipH="1">
            <a:off x="2120209" y="1993147"/>
            <a:ext cx="1" cy="127315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73690A-C0F4-19BB-884B-BF3FE47456C0}"/>
              </a:ext>
            </a:extLst>
          </p:cNvPr>
          <p:cNvSpPr txBox="1"/>
          <p:nvPr/>
        </p:nvSpPr>
        <p:spPr>
          <a:xfrm>
            <a:off x="2274987" y="2417779"/>
            <a:ext cx="57566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>
                <a:latin typeface="Times New Roman"/>
              </a:rPr>
              <a:t>INCREMENTO 1- GRUPO 19 BREWFLOW</a:t>
            </a:r>
          </a:p>
          <a:p>
            <a:pPr algn="ctr"/>
            <a:r>
              <a:rPr lang="es-CL" sz="1400" b="0">
                <a:latin typeface="Times New Roman"/>
              </a:rPr>
              <a:t>Sistema de gestión operativa de inventario · La Casona de Abrantes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DBA0E0F-2963-357F-F820-618C07658FB0}"/>
              </a:ext>
            </a:extLst>
          </p:cNvPr>
          <p:cNvSpPr txBox="1"/>
          <p:nvPr/>
        </p:nvSpPr>
        <p:spPr>
          <a:xfrm>
            <a:off x="3148404" y="3662492"/>
            <a:ext cx="2383715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fontAlgn="base"/>
            <a:r>
              <a:rPr lang="es-CL" sz="1400" b="1" noProof="0"/>
              <a:t>Autores: 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Max Fernández Soto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Luis González Flores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Santiago Monsalve Sanchez</a:t>
            </a:r>
          </a:p>
          <a:p>
            <a:pPr algn="ctr"/>
            <a:r>
              <a:rPr lang="es-CL" sz="1400" noProof="0">
                <a:ea typeface="+mn-lt"/>
                <a:cs typeface="+mn-lt"/>
              </a:rPr>
              <a:t>Cristóbal Osorio Riquelme</a:t>
            </a:r>
            <a:endParaRPr lang="es-CL" sz="1400" noProof="0"/>
          </a:p>
          <a:p>
            <a:pPr algn="ctr"/>
            <a:r>
              <a:rPr lang="es-CL" sz="1400" noProof="0">
                <a:ea typeface="+mn-lt"/>
                <a:cs typeface="+mn-lt"/>
              </a:rPr>
              <a:t>Fernando Quilaqueo</a:t>
            </a:r>
            <a:endParaRPr lang="es-CL" sz="1400" noProof="0"/>
          </a:p>
          <a:p>
            <a:pPr algn="ctr"/>
            <a:r>
              <a:rPr lang="es-CL" sz="1400" noProof="0">
                <a:ea typeface="+mn-lt"/>
                <a:cs typeface="+mn-lt"/>
              </a:rPr>
              <a:t>Gonzalo Zamarreño Pinto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4F57387-3075-B272-AAFC-5569A98712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-12720" y="1762"/>
            <a:ext cx="9158013" cy="143569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507B66B-54A4-6EB1-79CE-7BF00B47DF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890F8D-16DC-7F7A-02A8-464AB9A5A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052784"/>
            <a:ext cx="1279083" cy="11895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79EB2CF-7DCD-DE0A-1F4E-F27E4264557D}"/>
              </a:ext>
            </a:extLst>
          </p:cNvPr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noProof="0">
              <a:solidFill>
                <a:srgbClr val="0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4C1E29-4F0C-56B2-6977-E61A0F2B7CDA}"/>
              </a:ext>
            </a:extLst>
          </p:cNvPr>
          <p:cNvSpPr txBox="1"/>
          <p:nvPr/>
        </p:nvSpPr>
        <p:spPr>
          <a:xfrm>
            <a:off x="129264" y="6077217"/>
            <a:ext cx="3820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/>
              <a:t>Paulo Luis Francisco Quinsacara Jofré</a:t>
            </a:r>
          </a:p>
          <a:p>
            <a:endParaRPr lang="es-CL" noProof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BF2929-90DB-9AE5-DAF0-B1A0DC75ECF7}"/>
              </a:ext>
            </a:extLst>
          </p:cNvPr>
          <p:cNvSpPr txBox="1"/>
          <p:nvPr/>
        </p:nvSpPr>
        <p:spPr>
          <a:xfrm>
            <a:off x="6938577" y="6074946"/>
            <a:ext cx="1977295" cy="37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/>
              <a:t>17</a:t>
            </a:r>
            <a:r>
              <a:rPr lang="es-CL" noProof="0"/>
              <a:t> </a:t>
            </a:r>
            <a:r>
              <a:rPr lang="es-CL"/>
              <a:t>junio 2026</a:t>
            </a:r>
            <a:endParaRPr lang="es-CL" noProof="0"/>
          </a:p>
        </p:txBody>
      </p:sp>
      <p:pic>
        <p:nvPicPr>
          <p:cNvPr id="19" name="Copied Picture 19" descr="SD&#10;">
            <a:extLst>
              <a:ext uri="{FF2B5EF4-FFF2-40B4-BE49-F238E27FC236}">
                <a16:creationId xmlns:a16="http://schemas.microsoft.com/office/drawing/2014/main" id="{AFCEEC1F-0A0F-C43C-8B21-A2C7CDE61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CF4F7A1-7710-5CB9-3DBD-300CD47C4E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789" y="349738"/>
            <a:ext cx="719254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1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 [1781647599769]">
  <a:themeElements>
    <a:clrScheme name="Office 2013 - Tema de 2022">
      <a:dk1>
        <a:srgbClr val="FFFFFF"/>
      </a:dk1>
      <a:lt1>
        <a:srgbClr val="40404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Times New Roma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EF4361B-411A-4598-BF74-0B84C64A857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ab01b76-edd0-42cb-8f3b-69347cecc15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F37F9665541046ADF0BC085130D3B2" ma:contentTypeVersion="15" ma:contentTypeDescription="Create a new document." ma:contentTypeScope="" ma:versionID="a757c92e62acdad7818ea3a3e349431f">
  <xsd:schema xmlns:xsd="http://www.w3.org/2001/XMLSchema" xmlns:xs="http://www.w3.org/2001/XMLSchema" xmlns:p="http://schemas.microsoft.com/office/2006/metadata/properties" xmlns:ns3="8a321d71-336f-4736-980c-a20ac786a8ef" xmlns:ns4="025af61d-efa8-4243-b62c-caa1bd8ee127" targetNamespace="http://schemas.microsoft.com/office/2006/metadata/properties" ma:root="true" ma:fieldsID="bdf21211a615c81b971dc65c3199718d" ns3:_="" ns4:_="">
    <xsd:import namespace="8a321d71-336f-4736-980c-a20ac786a8ef"/>
    <xsd:import namespace="025af61d-efa8-4243-b62c-caa1bd8ee1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321d71-336f-4736-980c-a20ac786a8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af61d-efa8-4243-b62c-caa1bd8ee12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321d71-336f-4736-980c-a20ac786a8ef" xsi:nil="true"/>
  </documentManagement>
</p:properties>
</file>

<file path=customXml/itemProps1.xml><?xml version="1.0" encoding="utf-8"?>
<ds:datastoreItem xmlns:ds="http://schemas.openxmlformats.org/officeDocument/2006/customXml" ds:itemID="{1EEEA511-A020-4006-9A2B-0CC1747D2A6B}">
  <ds:schemaRefs>
    <ds:schemaRef ds:uri="025af61d-efa8-4243-b62c-caa1bd8ee127"/>
    <ds:schemaRef ds:uri="8a321d71-336f-4736-980c-a20ac786a8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838043-3F32-429D-9CE1-832CB673F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723C2D-0E6B-4CC9-9837-98C32BD8AB0C}">
  <ds:schemaRefs>
    <ds:schemaRef ds:uri="025af61d-efa8-4243-b62c-caa1bd8ee127"/>
    <ds:schemaRef ds:uri="8a321d71-336f-4736-980c-a20ac786a8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1447</Words>
  <Application>Microsoft Office PowerPoint</Application>
  <PresentationFormat>Carta (216 x 279 mm)</PresentationFormat>
  <Paragraphs>213</Paragraphs>
  <Slides>22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Open Sans</vt:lpstr>
      <vt:lpstr>Times New Roman</vt:lpstr>
      <vt:lpstr>Office 2013 - Tema de 2022 [1781647599769]</vt:lpstr>
      <vt:lpstr>Presentación de PowerPoint</vt:lpstr>
      <vt:lpstr>TABLA DE CONTENIDOS</vt:lpstr>
      <vt:lpstr>1. CONTEXTO DEL PROYECTO</vt:lpstr>
      <vt:lpstr>2. ALCANCE DEL INCREMENTO 1</vt:lpstr>
      <vt:lpstr>3. PROPUESTA DE SOLUCIÓN Y ARQUITECTURA</vt:lpstr>
      <vt:lpstr>3.1 VISTA DE DESARROLLO — Diagrama de Componentes</vt:lpstr>
      <vt:lpstr>3.2 VISTA LÓGICA — Modelo Físico</vt:lpstr>
      <vt:lpstr>3.3 VISTA LÓGICA — Diagrama de Clases</vt:lpstr>
      <vt:lpstr>3.4 ÁRBOL DE NAVEGACIÓN</vt:lpstr>
      <vt:lpstr>4.1 TRAZABILIDAD UR 2.2</vt:lpstr>
      <vt:lpstr>4.2 TRAZABILIDAD UR 2.2</vt:lpstr>
      <vt:lpstr>4.2 TRAZABILIDAD UR 2.2</vt:lpstr>
      <vt:lpstr>CU05: REGISTRANDO PROVEEDOR</vt:lpstr>
      <vt:lpstr>Presentación de PowerPoint</vt:lpstr>
      <vt:lpstr>5.2 TRAZABILIDAD UR 4.1</vt:lpstr>
      <vt:lpstr>5.2 TRAZABILIDAD UR 4.1</vt:lpstr>
      <vt:lpstr>CU10 — VALIDANDO FECHAS DE LOTE</vt:lpstr>
      <vt:lpstr>6. TRAZA SCRUM++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OSORIO RIQUELME CRISTOBAL A</cp:lastModifiedBy>
  <cp:revision>3</cp:revision>
  <cp:lastPrinted>2026-06-17T01:50:04Z</cp:lastPrinted>
  <dcterms:created xsi:type="dcterms:W3CDTF">2018-06-26T20:44:09Z</dcterms:created>
  <dcterms:modified xsi:type="dcterms:W3CDTF">2026-06-18T12:48:47Z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0x0101008CF37F9665541046ADF0BC085130D3B2</vt:lpwstr>
  </property>
</Properties>
</file>